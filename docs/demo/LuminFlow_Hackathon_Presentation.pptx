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aveSubsetFonts="1">
  <p:sldMasterIdLst>
    <p:sldMasterId id="2147483660" r:id="rId4"/>
  </p:sldMasterIdLst>
  <p:notesMasterIdLst>
    <p:notesMasterId r:id="rId10"/>
  </p:notesMasterIdLst>
  <p:sldIdLst>
    <p:sldId id="731" r:id="rId5"/>
    <p:sldId id="733" r:id="rId6"/>
    <p:sldId id="738" r:id="rId7"/>
    <p:sldId id="739" r:id="rId8"/>
    <p:sldId id="740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50382"/>
    <a:srgbClr val="050283"/>
    <a:srgbClr val="EAEEFC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10" d="100"/>
          <a:sy n="110" d="100"/>
        </p:scale>
        <p:origin x="630" y="108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200" d="100"/>
        <a:sy n="200" d="100"/>
      </p:scale>
      <p:origin x="0" y="-5094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presProps" Target="presProps.xml"/><Relationship Id="rId5" Type="http://schemas.openxmlformats.org/officeDocument/2006/relationships/slide" Target="slides/slide1.xml"/><Relationship Id="rId10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4124C39-47D9-4008-8118-70015085F21F}" type="datetimeFigureOut">
              <a:rPr lang="en-GB" smtClean="0"/>
              <a:t>17/06/2026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B54CCE6-8E3A-43F8-B01B-12C95E803A0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912029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>
            <a:extLst>
              <a:ext uri="{FF2B5EF4-FFF2-40B4-BE49-F238E27FC236}">
                <a16:creationId xmlns:a16="http://schemas.microsoft.com/office/drawing/2014/main" id="{F810E41D-09B0-F3B1-D132-776B0B687AD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r="8189"/>
          <a:stretch>
            <a:fillRect/>
          </a:stretch>
        </p:blipFill>
        <p:spPr>
          <a:xfrm>
            <a:off x="998478" y="3551"/>
            <a:ext cx="11193522" cy="6850897"/>
          </a:xfrm>
          <a:prstGeom prst="rect">
            <a:avLst/>
          </a:prstGeom>
        </p:spPr>
      </p:pic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4EA048EA-2213-6860-B3B3-0AF83779F759}"/>
              </a:ext>
            </a:extLst>
          </p:cNvPr>
          <p:cNvSpPr>
            <a:spLocks/>
          </p:cNvSpPr>
          <p:nvPr userDrawn="1"/>
        </p:nvSpPr>
        <p:spPr>
          <a:xfrm>
            <a:off x="0" y="0"/>
            <a:ext cx="12192000" cy="6858000"/>
          </a:xfrm>
          <a:custGeom>
            <a:avLst/>
            <a:gdLst>
              <a:gd name="connsiteX0" fmla="*/ 7302500 w 12192000"/>
              <a:gd name="connsiteY0" fmla="*/ 854074 h 6858000"/>
              <a:gd name="connsiteX1" fmla="*/ 7302500 w 12192000"/>
              <a:gd name="connsiteY1" fmla="*/ 6134099 h 6858000"/>
              <a:gd name="connsiteX2" fmla="*/ 10979150 w 12192000"/>
              <a:gd name="connsiteY2" fmla="*/ 6134099 h 6858000"/>
              <a:gd name="connsiteX3" fmla="*/ 10979150 w 12192000"/>
              <a:gd name="connsiteY3" fmla="*/ 854074 h 6858000"/>
              <a:gd name="connsiteX4" fmla="*/ 0 w 12192000"/>
              <a:gd name="connsiteY4" fmla="*/ 0 h 6858000"/>
              <a:gd name="connsiteX5" fmla="*/ 12192000 w 12192000"/>
              <a:gd name="connsiteY5" fmla="*/ 0 h 6858000"/>
              <a:gd name="connsiteX6" fmla="*/ 12192000 w 12192000"/>
              <a:gd name="connsiteY6" fmla="*/ 6858000 h 6858000"/>
              <a:gd name="connsiteX7" fmla="*/ 0 w 12192000"/>
              <a:gd name="connsiteY7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6858000">
                <a:moveTo>
                  <a:pt x="7302500" y="854074"/>
                </a:moveTo>
                <a:lnTo>
                  <a:pt x="7302500" y="6134099"/>
                </a:lnTo>
                <a:lnTo>
                  <a:pt x="10979150" y="6134099"/>
                </a:lnTo>
                <a:lnTo>
                  <a:pt x="10979150" y="854074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  <a:gradFill flip="none" rotWithShape="1">
            <a:gsLst>
              <a:gs pos="19000">
                <a:srgbClr val="1E49E2"/>
              </a:gs>
              <a:gs pos="100000">
                <a:srgbClr val="7213EA">
                  <a:alpha val="40000"/>
                </a:srgbClr>
              </a:gs>
            </a:gsLst>
            <a:lin ang="0" scaled="1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36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B8834143-4CA9-6E40-69E2-BBC46A6CD87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998478" y="1764699"/>
            <a:ext cx="5719339" cy="2880000"/>
          </a:xfrm>
          <a:noFill/>
          <a:ln w="3175">
            <a:noFill/>
            <a:prstDash val="lgDash"/>
          </a:ln>
        </p:spPr>
        <p:txBody>
          <a:bodyPr lIns="0" tIns="0" rIns="0" bIns="0" anchor="t" anchorCtr="0">
            <a:noAutofit/>
          </a:bodyPr>
          <a:lstStyle>
            <a:lvl1pPr algn="l">
              <a:defRPr sz="6600" baseline="0"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Title slide text only</a:t>
            </a:r>
            <a:endParaRPr lang="en-US" dirty="0"/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1C875EDF-CAC3-F2FD-E6D3-F7FDC64981C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998478" y="4752153"/>
            <a:ext cx="5719339" cy="810000"/>
          </a:xfrm>
          <a:ln w="3175">
            <a:noFill/>
            <a:prstDash val="lgDash"/>
          </a:ln>
        </p:spPr>
        <p:txBody>
          <a:bodyPr wrap="square" anchor="b">
            <a:noAutofit/>
          </a:bodyPr>
          <a:lstStyle>
            <a:lvl1pPr>
              <a:spcAft>
                <a:spcPts val="0"/>
              </a:spcAft>
              <a:defRPr sz="1400">
                <a:solidFill>
                  <a:schemeClr val="bg1"/>
                </a:solidFill>
              </a:defRPr>
            </a:lvl1pPr>
            <a:lvl2pPr>
              <a:defRPr sz="1400"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 sz="1100"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 sz="1100"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 sz="11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Team Name</a:t>
            </a:r>
          </a:p>
        </p:txBody>
      </p:sp>
      <p:sp>
        <p:nvSpPr>
          <p:cNvPr id="14" name="Freeform 19">
            <a:extLst>
              <a:ext uri="{FF2B5EF4-FFF2-40B4-BE49-F238E27FC236}">
                <a16:creationId xmlns:a16="http://schemas.microsoft.com/office/drawing/2014/main" id="{D2574FCC-75B5-98DF-2656-6869D2B3DC20}"/>
              </a:ext>
            </a:extLst>
          </p:cNvPr>
          <p:cNvSpPr>
            <a:spLocks noChangeAspect="1" noEditPoints="1"/>
          </p:cNvSpPr>
          <p:nvPr userDrawn="1"/>
        </p:nvSpPr>
        <p:spPr bwMode="auto">
          <a:xfrm>
            <a:off x="998478" y="371313"/>
            <a:ext cx="911399" cy="371311"/>
          </a:xfrm>
          <a:custGeom>
            <a:avLst/>
            <a:gdLst>
              <a:gd name="T0" fmla="*/ 269 w 283"/>
              <a:gd name="T1" fmla="*/ 77 h 114"/>
              <a:gd name="T2" fmla="*/ 222 w 283"/>
              <a:gd name="T3" fmla="*/ 87 h 114"/>
              <a:gd name="T4" fmla="*/ 244 w 283"/>
              <a:gd name="T5" fmla="*/ 60 h 114"/>
              <a:gd name="T6" fmla="*/ 269 w 283"/>
              <a:gd name="T7" fmla="*/ 56 h 114"/>
              <a:gd name="T8" fmla="*/ 222 w 283"/>
              <a:gd name="T9" fmla="*/ 2 h 114"/>
              <a:gd name="T10" fmla="*/ 281 w 283"/>
              <a:gd name="T11" fmla="*/ 87 h 114"/>
              <a:gd name="T12" fmla="*/ 222 w 283"/>
              <a:gd name="T13" fmla="*/ 89 h 114"/>
              <a:gd name="T14" fmla="*/ 246 w 283"/>
              <a:gd name="T15" fmla="*/ 101 h 114"/>
              <a:gd name="T16" fmla="*/ 205 w 283"/>
              <a:gd name="T17" fmla="*/ 82 h 114"/>
              <a:gd name="T18" fmla="*/ 203 w 283"/>
              <a:gd name="T19" fmla="*/ 52 h 114"/>
              <a:gd name="T20" fmla="*/ 154 w 283"/>
              <a:gd name="T21" fmla="*/ 87 h 114"/>
              <a:gd name="T22" fmla="*/ 213 w 283"/>
              <a:gd name="T23" fmla="*/ 53 h 114"/>
              <a:gd name="T24" fmla="*/ 171 w 283"/>
              <a:gd name="T25" fmla="*/ 87 h 114"/>
              <a:gd name="T26" fmla="*/ 180 w 283"/>
              <a:gd name="T27" fmla="*/ 87 h 114"/>
              <a:gd name="T28" fmla="*/ 120 w 283"/>
              <a:gd name="T29" fmla="*/ 87 h 114"/>
              <a:gd name="T30" fmla="*/ 117 w 283"/>
              <a:gd name="T31" fmla="*/ 56 h 114"/>
              <a:gd name="T32" fmla="*/ 86 w 283"/>
              <a:gd name="T33" fmla="*/ 2 h 114"/>
              <a:gd name="T34" fmla="*/ 145 w 283"/>
              <a:gd name="T35" fmla="*/ 52 h 114"/>
              <a:gd name="T36" fmla="*/ 142 w 283"/>
              <a:gd name="T37" fmla="*/ 87 h 114"/>
              <a:gd name="T38" fmla="*/ 93 w 283"/>
              <a:gd name="T39" fmla="*/ 79 h 114"/>
              <a:gd name="T40" fmla="*/ 89 w 283"/>
              <a:gd name="T41" fmla="*/ 79 h 114"/>
              <a:gd name="T42" fmla="*/ 87 w 283"/>
              <a:gd name="T43" fmla="*/ 69 h 114"/>
              <a:gd name="T44" fmla="*/ 95 w 283"/>
              <a:gd name="T45" fmla="*/ 62 h 114"/>
              <a:gd name="T46" fmla="*/ 93 w 283"/>
              <a:gd name="T47" fmla="*/ 79 h 114"/>
              <a:gd name="T48" fmla="*/ 67 w 283"/>
              <a:gd name="T49" fmla="*/ 86 h 114"/>
              <a:gd name="T50" fmla="*/ 37 w 283"/>
              <a:gd name="T51" fmla="*/ 82 h 114"/>
              <a:gd name="T52" fmla="*/ 25 w 283"/>
              <a:gd name="T53" fmla="*/ 77 h 114"/>
              <a:gd name="T54" fmla="*/ 18 w 283"/>
              <a:gd name="T55" fmla="*/ 2 h 114"/>
              <a:gd name="T56" fmla="*/ 76 w 283"/>
              <a:gd name="T57" fmla="*/ 55 h 114"/>
              <a:gd name="T58" fmla="*/ 22 w 283"/>
              <a:gd name="T59" fmla="*/ 87 h 114"/>
              <a:gd name="T60" fmla="*/ 220 w 283"/>
              <a:gd name="T61" fmla="*/ 0 h 114"/>
              <a:gd name="T62" fmla="*/ 215 w 283"/>
              <a:gd name="T63" fmla="*/ 0 h 114"/>
              <a:gd name="T64" fmla="*/ 147 w 283"/>
              <a:gd name="T65" fmla="*/ 52 h 114"/>
              <a:gd name="T66" fmla="*/ 84 w 283"/>
              <a:gd name="T67" fmla="*/ 52 h 114"/>
              <a:gd name="T68" fmla="*/ 16 w 283"/>
              <a:gd name="T69" fmla="*/ 0 h 114"/>
              <a:gd name="T70" fmla="*/ 14 w 283"/>
              <a:gd name="T71" fmla="*/ 113 h 114"/>
              <a:gd name="T72" fmla="*/ 35 w 283"/>
              <a:gd name="T73" fmla="*/ 113 h 114"/>
              <a:gd name="T74" fmla="*/ 66 w 283"/>
              <a:gd name="T75" fmla="*/ 89 h 114"/>
              <a:gd name="T76" fmla="*/ 81 w 283"/>
              <a:gd name="T77" fmla="*/ 89 h 114"/>
              <a:gd name="T78" fmla="*/ 90 w 283"/>
              <a:gd name="T79" fmla="*/ 89 h 114"/>
              <a:gd name="T80" fmla="*/ 112 w 283"/>
              <a:gd name="T81" fmla="*/ 113 h 114"/>
              <a:gd name="T82" fmla="*/ 142 w 283"/>
              <a:gd name="T83" fmla="*/ 89 h 114"/>
              <a:gd name="T84" fmla="*/ 170 w 283"/>
              <a:gd name="T85" fmla="*/ 89 h 114"/>
              <a:gd name="T86" fmla="*/ 190 w 283"/>
              <a:gd name="T87" fmla="*/ 113 h 114"/>
              <a:gd name="T88" fmla="*/ 210 w 283"/>
              <a:gd name="T89" fmla="*/ 108 h 114"/>
              <a:gd name="T90" fmla="*/ 266 w 283"/>
              <a:gd name="T91" fmla="*/ 89 h 114"/>
              <a:gd name="T92" fmla="*/ 220 w 283"/>
              <a:gd name="T93" fmla="*/ 0 h 11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</a:cxnLst>
            <a:rect l="0" t="0" r="r" b="b"/>
            <a:pathLst>
              <a:path w="283" h="114">
                <a:moveTo>
                  <a:pt x="281" y="87"/>
                </a:moveTo>
                <a:cubicBezTo>
                  <a:pt x="266" y="87"/>
                  <a:pt x="266" y="87"/>
                  <a:pt x="266" y="87"/>
                </a:cubicBezTo>
                <a:cubicBezTo>
                  <a:pt x="269" y="77"/>
                  <a:pt x="269" y="77"/>
                  <a:pt x="269" y="77"/>
                </a:cubicBezTo>
                <a:cubicBezTo>
                  <a:pt x="239" y="77"/>
                  <a:pt x="239" y="77"/>
                  <a:pt x="239" y="77"/>
                </a:cubicBezTo>
                <a:cubicBezTo>
                  <a:pt x="237" y="87"/>
                  <a:pt x="237" y="87"/>
                  <a:pt x="237" y="87"/>
                </a:cubicBezTo>
                <a:cubicBezTo>
                  <a:pt x="222" y="87"/>
                  <a:pt x="222" y="87"/>
                  <a:pt x="222" y="87"/>
                </a:cubicBezTo>
                <a:cubicBezTo>
                  <a:pt x="222" y="85"/>
                  <a:pt x="222" y="85"/>
                  <a:pt x="222" y="85"/>
                </a:cubicBezTo>
                <a:cubicBezTo>
                  <a:pt x="223" y="84"/>
                  <a:pt x="223" y="83"/>
                  <a:pt x="223" y="81"/>
                </a:cubicBezTo>
                <a:cubicBezTo>
                  <a:pt x="226" y="71"/>
                  <a:pt x="233" y="60"/>
                  <a:pt x="244" y="60"/>
                </a:cubicBezTo>
                <a:cubicBezTo>
                  <a:pt x="249" y="60"/>
                  <a:pt x="254" y="62"/>
                  <a:pt x="253" y="69"/>
                </a:cubicBezTo>
                <a:cubicBezTo>
                  <a:pt x="271" y="69"/>
                  <a:pt x="271" y="69"/>
                  <a:pt x="271" y="69"/>
                </a:cubicBezTo>
                <a:cubicBezTo>
                  <a:pt x="272" y="66"/>
                  <a:pt x="273" y="61"/>
                  <a:pt x="269" y="56"/>
                </a:cubicBezTo>
                <a:cubicBezTo>
                  <a:pt x="266" y="51"/>
                  <a:pt x="258" y="48"/>
                  <a:pt x="248" y="48"/>
                </a:cubicBezTo>
                <a:cubicBezTo>
                  <a:pt x="241" y="48"/>
                  <a:pt x="231" y="50"/>
                  <a:pt x="222" y="55"/>
                </a:cubicBezTo>
                <a:cubicBezTo>
                  <a:pt x="222" y="2"/>
                  <a:pt x="222" y="2"/>
                  <a:pt x="222" y="2"/>
                </a:cubicBezTo>
                <a:cubicBezTo>
                  <a:pt x="281" y="2"/>
                  <a:pt x="281" y="2"/>
                  <a:pt x="281" y="2"/>
                </a:cubicBezTo>
                <a:cubicBezTo>
                  <a:pt x="281" y="87"/>
                  <a:pt x="281" y="87"/>
                  <a:pt x="281" y="87"/>
                </a:cubicBezTo>
                <a:cubicBezTo>
                  <a:pt x="281" y="87"/>
                  <a:pt x="281" y="87"/>
                  <a:pt x="281" y="87"/>
                </a:cubicBezTo>
                <a:close/>
                <a:moveTo>
                  <a:pt x="246" y="101"/>
                </a:moveTo>
                <a:cubicBezTo>
                  <a:pt x="243" y="102"/>
                  <a:pt x="240" y="102"/>
                  <a:pt x="237" y="102"/>
                </a:cubicBezTo>
                <a:cubicBezTo>
                  <a:pt x="228" y="102"/>
                  <a:pt x="222" y="98"/>
                  <a:pt x="222" y="89"/>
                </a:cubicBezTo>
                <a:cubicBezTo>
                  <a:pt x="249" y="89"/>
                  <a:pt x="249" y="89"/>
                  <a:pt x="249" y="89"/>
                </a:cubicBezTo>
                <a:cubicBezTo>
                  <a:pt x="246" y="101"/>
                  <a:pt x="246" y="101"/>
                  <a:pt x="246" y="101"/>
                </a:cubicBezTo>
                <a:cubicBezTo>
                  <a:pt x="246" y="101"/>
                  <a:pt x="246" y="101"/>
                  <a:pt x="246" y="101"/>
                </a:cubicBezTo>
                <a:close/>
                <a:moveTo>
                  <a:pt x="213" y="53"/>
                </a:moveTo>
                <a:cubicBezTo>
                  <a:pt x="213" y="65"/>
                  <a:pt x="213" y="65"/>
                  <a:pt x="213" y="65"/>
                </a:cubicBezTo>
                <a:cubicBezTo>
                  <a:pt x="209" y="71"/>
                  <a:pt x="206" y="77"/>
                  <a:pt x="205" y="82"/>
                </a:cubicBezTo>
                <a:cubicBezTo>
                  <a:pt x="204" y="83"/>
                  <a:pt x="204" y="85"/>
                  <a:pt x="204" y="87"/>
                </a:cubicBezTo>
                <a:cubicBezTo>
                  <a:pt x="195" y="87"/>
                  <a:pt x="195" y="87"/>
                  <a:pt x="195" y="87"/>
                </a:cubicBezTo>
                <a:cubicBezTo>
                  <a:pt x="203" y="52"/>
                  <a:pt x="203" y="52"/>
                  <a:pt x="203" y="52"/>
                </a:cubicBezTo>
                <a:cubicBezTo>
                  <a:pt x="178" y="52"/>
                  <a:pt x="178" y="52"/>
                  <a:pt x="178" y="52"/>
                </a:cubicBezTo>
                <a:cubicBezTo>
                  <a:pt x="156" y="87"/>
                  <a:pt x="156" y="87"/>
                  <a:pt x="156" y="87"/>
                </a:cubicBezTo>
                <a:cubicBezTo>
                  <a:pt x="154" y="87"/>
                  <a:pt x="154" y="87"/>
                  <a:pt x="154" y="87"/>
                </a:cubicBezTo>
                <a:cubicBezTo>
                  <a:pt x="154" y="2"/>
                  <a:pt x="154" y="2"/>
                  <a:pt x="154" y="2"/>
                </a:cubicBezTo>
                <a:cubicBezTo>
                  <a:pt x="213" y="2"/>
                  <a:pt x="213" y="2"/>
                  <a:pt x="213" y="2"/>
                </a:cubicBezTo>
                <a:cubicBezTo>
                  <a:pt x="213" y="53"/>
                  <a:pt x="213" y="53"/>
                  <a:pt x="213" y="53"/>
                </a:cubicBezTo>
                <a:cubicBezTo>
                  <a:pt x="213" y="53"/>
                  <a:pt x="213" y="53"/>
                  <a:pt x="213" y="53"/>
                </a:cubicBezTo>
                <a:close/>
                <a:moveTo>
                  <a:pt x="180" y="87"/>
                </a:moveTo>
                <a:cubicBezTo>
                  <a:pt x="171" y="87"/>
                  <a:pt x="171" y="87"/>
                  <a:pt x="171" y="87"/>
                </a:cubicBezTo>
                <a:cubicBezTo>
                  <a:pt x="185" y="66"/>
                  <a:pt x="185" y="66"/>
                  <a:pt x="185" y="66"/>
                </a:cubicBezTo>
                <a:cubicBezTo>
                  <a:pt x="180" y="87"/>
                  <a:pt x="180" y="87"/>
                  <a:pt x="180" y="87"/>
                </a:cubicBezTo>
                <a:cubicBezTo>
                  <a:pt x="180" y="87"/>
                  <a:pt x="180" y="87"/>
                  <a:pt x="180" y="87"/>
                </a:cubicBezTo>
                <a:close/>
                <a:moveTo>
                  <a:pt x="145" y="52"/>
                </a:moveTo>
                <a:cubicBezTo>
                  <a:pt x="130" y="52"/>
                  <a:pt x="130" y="52"/>
                  <a:pt x="130" y="52"/>
                </a:cubicBezTo>
                <a:cubicBezTo>
                  <a:pt x="120" y="87"/>
                  <a:pt x="120" y="87"/>
                  <a:pt x="120" y="87"/>
                </a:cubicBezTo>
                <a:cubicBezTo>
                  <a:pt x="104" y="87"/>
                  <a:pt x="104" y="87"/>
                  <a:pt x="104" y="87"/>
                </a:cubicBezTo>
                <a:cubicBezTo>
                  <a:pt x="112" y="84"/>
                  <a:pt x="117" y="78"/>
                  <a:pt x="119" y="70"/>
                </a:cubicBezTo>
                <a:cubicBezTo>
                  <a:pt x="120" y="64"/>
                  <a:pt x="119" y="59"/>
                  <a:pt x="117" y="56"/>
                </a:cubicBezTo>
                <a:cubicBezTo>
                  <a:pt x="113" y="51"/>
                  <a:pt x="105" y="52"/>
                  <a:pt x="98" y="52"/>
                </a:cubicBezTo>
                <a:cubicBezTo>
                  <a:pt x="97" y="52"/>
                  <a:pt x="86" y="52"/>
                  <a:pt x="86" y="52"/>
                </a:cubicBezTo>
                <a:cubicBezTo>
                  <a:pt x="86" y="2"/>
                  <a:pt x="86" y="2"/>
                  <a:pt x="86" y="2"/>
                </a:cubicBezTo>
                <a:cubicBezTo>
                  <a:pt x="145" y="2"/>
                  <a:pt x="145" y="2"/>
                  <a:pt x="145" y="2"/>
                </a:cubicBezTo>
                <a:cubicBezTo>
                  <a:pt x="145" y="52"/>
                  <a:pt x="145" y="52"/>
                  <a:pt x="145" y="52"/>
                </a:cubicBezTo>
                <a:cubicBezTo>
                  <a:pt x="145" y="52"/>
                  <a:pt x="145" y="52"/>
                  <a:pt x="145" y="52"/>
                </a:cubicBezTo>
                <a:close/>
                <a:moveTo>
                  <a:pt x="135" y="87"/>
                </a:moveTo>
                <a:cubicBezTo>
                  <a:pt x="141" y="65"/>
                  <a:pt x="141" y="65"/>
                  <a:pt x="141" y="65"/>
                </a:cubicBezTo>
                <a:cubicBezTo>
                  <a:pt x="142" y="87"/>
                  <a:pt x="142" y="87"/>
                  <a:pt x="142" y="87"/>
                </a:cubicBezTo>
                <a:cubicBezTo>
                  <a:pt x="135" y="87"/>
                  <a:pt x="135" y="87"/>
                  <a:pt x="135" y="87"/>
                </a:cubicBezTo>
                <a:cubicBezTo>
                  <a:pt x="135" y="87"/>
                  <a:pt x="135" y="87"/>
                  <a:pt x="135" y="87"/>
                </a:cubicBezTo>
                <a:close/>
                <a:moveTo>
                  <a:pt x="93" y="79"/>
                </a:moveTo>
                <a:cubicBezTo>
                  <a:pt x="93" y="79"/>
                  <a:pt x="93" y="79"/>
                  <a:pt x="93" y="79"/>
                </a:cubicBezTo>
                <a:cubicBezTo>
                  <a:pt x="92" y="79"/>
                  <a:pt x="91" y="79"/>
                  <a:pt x="91" y="79"/>
                </a:cubicBezTo>
                <a:cubicBezTo>
                  <a:pt x="90" y="79"/>
                  <a:pt x="89" y="79"/>
                  <a:pt x="89" y="79"/>
                </a:cubicBezTo>
                <a:cubicBezTo>
                  <a:pt x="85" y="79"/>
                  <a:pt x="85" y="79"/>
                  <a:pt x="85" y="79"/>
                </a:cubicBezTo>
                <a:cubicBezTo>
                  <a:pt x="87" y="72"/>
                  <a:pt x="87" y="72"/>
                  <a:pt x="87" y="72"/>
                </a:cubicBezTo>
                <a:cubicBezTo>
                  <a:pt x="87" y="69"/>
                  <a:pt x="87" y="69"/>
                  <a:pt x="87" y="69"/>
                </a:cubicBezTo>
                <a:cubicBezTo>
                  <a:pt x="89" y="62"/>
                  <a:pt x="89" y="62"/>
                  <a:pt x="89" y="62"/>
                </a:cubicBezTo>
                <a:cubicBezTo>
                  <a:pt x="90" y="62"/>
                  <a:pt x="91" y="62"/>
                  <a:pt x="92" y="62"/>
                </a:cubicBezTo>
                <a:cubicBezTo>
                  <a:pt x="95" y="62"/>
                  <a:pt x="95" y="62"/>
                  <a:pt x="95" y="62"/>
                </a:cubicBezTo>
                <a:cubicBezTo>
                  <a:pt x="100" y="62"/>
                  <a:pt x="103" y="62"/>
                  <a:pt x="104" y="63"/>
                </a:cubicBezTo>
                <a:cubicBezTo>
                  <a:pt x="105" y="65"/>
                  <a:pt x="105" y="67"/>
                  <a:pt x="104" y="70"/>
                </a:cubicBezTo>
                <a:cubicBezTo>
                  <a:pt x="102" y="75"/>
                  <a:pt x="100" y="78"/>
                  <a:pt x="93" y="79"/>
                </a:cubicBezTo>
                <a:moveTo>
                  <a:pt x="76" y="55"/>
                </a:moveTo>
                <a:cubicBezTo>
                  <a:pt x="75" y="58"/>
                  <a:pt x="75" y="58"/>
                  <a:pt x="75" y="58"/>
                </a:cubicBezTo>
                <a:cubicBezTo>
                  <a:pt x="67" y="86"/>
                  <a:pt x="67" y="86"/>
                  <a:pt x="67" y="86"/>
                </a:cubicBezTo>
                <a:cubicBezTo>
                  <a:pt x="67" y="87"/>
                  <a:pt x="67" y="87"/>
                  <a:pt x="67" y="87"/>
                </a:cubicBezTo>
                <a:cubicBezTo>
                  <a:pt x="39" y="87"/>
                  <a:pt x="39" y="87"/>
                  <a:pt x="39" y="87"/>
                </a:cubicBezTo>
                <a:cubicBezTo>
                  <a:pt x="37" y="82"/>
                  <a:pt x="37" y="82"/>
                  <a:pt x="37" y="82"/>
                </a:cubicBezTo>
                <a:cubicBezTo>
                  <a:pt x="67" y="52"/>
                  <a:pt x="67" y="52"/>
                  <a:pt x="67" y="52"/>
                </a:cubicBezTo>
                <a:cubicBezTo>
                  <a:pt x="48" y="52"/>
                  <a:pt x="48" y="52"/>
                  <a:pt x="48" y="52"/>
                </a:cubicBezTo>
                <a:cubicBezTo>
                  <a:pt x="25" y="77"/>
                  <a:pt x="25" y="77"/>
                  <a:pt x="25" y="77"/>
                </a:cubicBezTo>
                <a:cubicBezTo>
                  <a:pt x="32" y="52"/>
                  <a:pt x="32" y="52"/>
                  <a:pt x="32" y="52"/>
                </a:cubicBezTo>
                <a:cubicBezTo>
                  <a:pt x="18" y="52"/>
                  <a:pt x="18" y="52"/>
                  <a:pt x="18" y="52"/>
                </a:cubicBezTo>
                <a:cubicBezTo>
                  <a:pt x="18" y="2"/>
                  <a:pt x="18" y="2"/>
                  <a:pt x="18" y="2"/>
                </a:cubicBezTo>
                <a:cubicBezTo>
                  <a:pt x="76" y="2"/>
                  <a:pt x="76" y="2"/>
                  <a:pt x="76" y="2"/>
                </a:cubicBezTo>
                <a:cubicBezTo>
                  <a:pt x="76" y="55"/>
                  <a:pt x="76" y="55"/>
                  <a:pt x="76" y="55"/>
                </a:cubicBezTo>
                <a:cubicBezTo>
                  <a:pt x="76" y="55"/>
                  <a:pt x="76" y="55"/>
                  <a:pt x="76" y="55"/>
                </a:cubicBezTo>
                <a:close/>
                <a:moveTo>
                  <a:pt x="22" y="87"/>
                </a:moveTo>
                <a:cubicBezTo>
                  <a:pt x="22" y="87"/>
                  <a:pt x="22" y="87"/>
                  <a:pt x="22" y="87"/>
                </a:cubicBezTo>
                <a:cubicBezTo>
                  <a:pt x="22" y="87"/>
                  <a:pt x="22" y="87"/>
                  <a:pt x="22" y="87"/>
                </a:cubicBezTo>
                <a:cubicBezTo>
                  <a:pt x="22" y="87"/>
                  <a:pt x="22" y="87"/>
                  <a:pt x="22" y="87"/>
                </a:cubicBezTo>
                <a:cubicBezTo>
                  <a:pt x="22" y="87"/>
                  <a:pt x="22" y="87"/>
                  <a:pt x="22" y="87"/>
                </a:cubicBezTo>
                <a:close/>
                <a:moveTo>
                  <a:pt x="220" y="0"/>
                </a:moveTo>
                <a:cubicBezTo>
                  <a:pt x="220" y="57"/>
                  <a:pt x="220" y="57"/>
                  <a:pt x="220" y="57"/>
                </a:cubicBezTo>
                <a:cubicBezTo>
                  <a:pt x="218" y="59"/>
                  <a:pt x="216" y="60"/>
                  <a:pt x="215" y="62"/>
                </a:cubicBezTo>
                <a:cubicBezTo>
                  <a:pt x="215" y="0"/>
                  <a:pt x="215" y="0"/>
                  <a:pt x="215" y="0"/>
                </a:cubicBezTo>
                <a:cubicBezTo>
                  <a:pt x="152" y="0"/>
                  <a:pt x="152" y="0"/>
                  <a:pt x="152" y="0"/>
                </a:cubicBezTo>
                <a:cubicBezTo>
                  <a:pt x="152" y="52"/>
                  <a:pt x="152" y="52"/>
                  <a:pt x="152" y="52"/>
                </a:cubicBezTo>
                <a:cubicBezTo>
                  <a:pt x="147" y="52"/>
                  <a:pt x="147" y="52"/>
                  <a:pt x="147" y="52"/>
                </a:cubicBezTo>
                <a:cubicBezTo>
                  <a:pt x="147" y="0"/>
                  <a:pt x="147" y="0"/>
                  <a:pt x="147" y="0"/>
                </a:cubicBezTo>
                <a:cubicBezTo>
                  <a:pt x="84" y="0"/>
                  <a:pt x="84" y="0"/>
                  <a:pt x="84" y="0"/>
                </a:cubicBezTo>
                <a:cubicBezTo>
                  <a:pt x="84" y="52"/>
                  <a:pt x="84" y="52"/>
                  <a:pt x="84" y="52"/>
                </a:cubicBezTo>
                <a:cubicBezTo>
                  <a:pt x="79" y="52"/>
                  <a:pt x="79" y="52"/>
                  <a:pt x="79" y="52"/>
                </a:cubicBezTo>
                <a:cubicBezTo>
                  <a:pt x="79" y="0"/>
                  <a:pt x="79" y="0"/>
                  <a:pt x="79" y="0"/>
                </a:cubicBezTo>
                <a:cubicBezTo>
                  <a:pt x="16" y="0"/>
                  <a:pt x="16" y="0"/>
                  <a:pt x="16" y="0"/>
                </a:cubicBezTo>
                <a:cubicBezTo>
                  <a:pt x="16" y="59"/>
                  <a:pt x="16" y="59"/>
                  <a:pt x="16" y="59"/>
                </a:cubicBezTo>
                <a:cubicBezTo>
                  <a:pt x="0" y="113"/>
                  <a:pt x="0" y="113"/>
                  <a:pt x="0" y="113"/>
                </a:cubicBezTo>
                <a:cubicBezTo>
                  <a:pt x="14" y="113"/>
                  <a:pt x="14" y="113"/>
                  <a:pt x="14" y="113"/>
                </a:cubicBezTo>
                <a:cubicBezTo>
                  <a:pt x="21" y="89"/>
                  <a:pt x="21" y="89"/>
                  <a:pt x="21" y="89"/>
                </a:cubicBezTo>
                <a:cubicBezTo>
                  <a:pt x="23" y="89"/>
                  <a:pt x="23" y="89"/>
                  <a:pt x="23" y="89"/>
                </a:cubicBezTo>
                <a:cubicBezTo>
                  <a:pt x="35" y="113"/>
                  <a:pt x="35" y="113"/>
                  <a:pt x="35" y="113"/>
                </a:cubicBezTo>
                <a:cubicBezTo>
                  <a:pt x="52" y="113"/>
                  <a:pt x="52" y="113"/>
                  <a:pt x="52" y="113"/>
                </a:cubicBezTo>
                <a:cubicBezTo>
                  <a:pt x="40" y="89"/>
                  <a:pt x="40" y="89"/>
                  <a:pt x="40" y="89"/>
                </a:cubicBezTo>
                <a:cubicBezTo>
                  <a:pt x="66" y="89"/>
                  <a:pt x="66" y="89"/>
                  <a:pt x="66" y="89"/>
                </a:cubicBezTo>
                <a:cubicBezTo>
                  <a:pt x="59" y="113"/>
                  <a:pt x="59" y="113"/>
                  <a:pt x="59" y="113"/>
                </a:cubicBezTo>
                <a:cubicBezTo>
                  <a:pt x="74" y="113"/>
                  <a:pt x="74" y="113"/>
                  <a:pt x="74" y="113"/>
                </a:cubicBezTo>
                <a:cubicBezTo>
                  <a:pt x="81" y="89"/>
                  <a:pt x="81" y="89"/>
                  <a:pt x="81" y="89"/>
                </a:cubicBezTo>
                <a:cubicBezTo>
                  <a:pt x="85" y="89"/>
                  <a:pt x="85" y="89"/>
                  <a:pt x="85" y="89"/>
                </a:cubicBezTo>
                <a:cubicBezTo>
                  <a:pt x="85" y="89"/>
                  <a:pt x="85" y="89"/>
                  <a:pt x="85" y="89"/>
                </a:cubicBezTo>
                <a:cubicBezTo>
                  <a:pt x="90" y="89"/>
                  <a:pt x="90" y="89"/>
                  <a:pt x="90" y="89"/>
                </a:cubicBezTo>
                <a:cubicBezTo>
                  <a:pt x="90" y="89"/>
                  <a:pt x="90" y="89"/>
                  <a:pt x="90" y="89"/>
                </a:cubicBezTo>
                <a:cubicBezTo>
                  <a:pt x="119" y="89"/>
                  <a:pt x="119" y="89"/>
                  <a:pt x="119" y="89"/>
                </a:cubicBezTo>
                <a:cubicBezTo>
                  <a:pt x="112" y="113"/>
                  <a:pt x="112" y="113"/>
                  <a:pt x="112" y="113"/>
                </a:cubicBezTo>
                <a:cubicBezTo>
                  <a:pt x="128" y="113"/>
                  <a:pt x="128" y="113"/>
                  <a:pt x="128" y="113"/>
                </a:cubicBezTo>
                <a:cubicBezTo>
                  <a:pt x="135" y="89"/>
                  <a:pt x="135" y="89"/>
                  <a:pt x="135" y="89"/>
                </a:cubicBezTo>
                <a:cubicBezTo>
                  <a:pt x="142" y="89"/>
                  <a:pt x="142" y="89"/>
                  <a:pt x="142" y="89"/>
                </a:cubicBezTo>
                <a:cubicBezTo>
                  <a:pt x="142" y="113"/>
                  <a:pt x="142" y="113"/>
                  <a:pt x="142" y="113"/>
                </a:cubicBezTo>
                <a:cubicBezTo>
                  <a:pt x="155" y="113"/>
                  <a:pt x="155" y="113"/>
                  <a:pt x="155" y="113"/>
                </a:cubicBezTo>
                <a:cubicBezTo>
                  <a:pt x="170" y="89"/>
                  <a:pt x="170" y="89"/>
                  <a:pt x="170" y="89"/>
                </a:cubicBezTo>
                <a:cubicBezTo>
                  <a:pt x="180" y="89"/>
                  <a:pt x="180" y="89"/>
                  <a:pt x="180" y="89"/>
                </a:cubicBezTo>
                <a:cubicBezTo>
                  <a:pt x="175" y="113"/>
                  <a:pt x="175" y="113"/>
                  <a:pt x="175" y="113"/>
                </a:cubicBezTo>
                <a:cubicBezTo>
                  <a:pt x="190" y="113"/>
                  <a:pt x="190" y="113"/>
                  <a:pt x="190" y="113"/>
                </a:cubicBezTo>
                <a:cubicBezTo>
                  <a:pt x="195" y="89"/>
                  <a:pt x="195" y="89"/>
                  <a:pt x="195" y="89"/>
                </a:cubicBezTo>
                <a:cubicBezTo>
                  <a:pt x="204" y="89"/>
                  <a:pt x="204" y="89"/>
                  <a:pt x="204" y="89"/>
                </a:cubicBezTo>
                <a:cubicBezTo>
                  <a:pt x="203" y="96"/>
                  <a:pt x="205" y="103"/>
                  <a:pt x="210" y="108"/>
                </a:cubicBezTo>
                <a:cubicBezTo>
                  <a:pt x="216" y="113"/>
                  <a:pt x="225" y="114"/>
                  <a:pt x="232" y="114"/>
                </a:cubicBezTo>
                <a:cubicBezTo>
                  <a:pt x="241" y="114"/>
                  <a:pt x="251" y="113"/>
                  <a:pt x="260" y="111"/>
                </a:cubicBezTo>
                <a:cubicBezTo>
                  <a:pt x="266" y="89"/>
                  <a:pt x="266" y="89"/>
                  <a:pt x="266" y="89"/>
                </a:cubicBezTo>
                <a:cubicBezTo>
                  <a:pt x="283" y="89"/>
                  <a:pt x="283" y="89"/>
                  <a:pt x="283" y="89"/>
                </a:cubicBezTo>
                <a:cubicBezTo>
                  <a:pt x="283" y="0"/>
                  <a:pt x="283" y="0"/>
                  <a:pt x="283" y="0"/>
                </a:cubicBezTo>
                <a:cubicBezTo>
                  <a:pt x="220" y="0"/>
                  <a:pt x="220" y="0"/>
                  <a:pt x="220" y="0"/>
                </a:cubicBezTo>
                <a:cubicBezTo>
                  <a:pt x="220" y="0"/>
                  <a:pt x="220" y="0"/>
                  <a:pt x="220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 sz="1800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256E163-835A-B222-D0F5-B027C8C3D8E0}"/>
              </a:ext>
            </a:extLst>
          </p:cNvPr>
          <p:cNvSpPr txBox="1"/>
          <p:nvPr userDrawn="1"/>
        </p:nvSpPr>
        <p:spPr>
          <a:xfrm>
            <a:off x="4589605" y="5231549"/>
            <a:ext cx="224611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buNone/>
            </a:pPr>
            <a:r>
              <a:rPr lang="sv-SE" sz="1400" b="1" i="0" dirty="0">
                <a:solidFill>
                  <a:schemeClr val="bg1"/>
                </a:solidFill>
                <a:effectLst/>
                <a:latin typeface="+mn-lt"/>
              </a:rPr>
              <a:t>2026 Audit</a:t>
            </a:r>
            <a:br>
              <a:rPr lang="sv-SE" sz="1400" b="1" i="0" dirty="0">
                <a:solidFill>
                  <a:srgbClr val="00338D"/>
                </a:solidFill>
                <a:effectLst/>
                <a:latin typeface="+mn-lt"/>
              </a:rPr>
            </a:br>
            <a:r>
              <a:rPr lang="sv-SE" sz="1400" b="1" i="0" dirty="0">
                <a:solidFill>
                  <a:srgbClr val="76D2FF"/>
                </a:solidFill>
                <a:effectLst/>
                <a:latin typeface="+mn-lt"/>
              </a:rPr>
              <a:t>Innovation Hackathon</a:t>
            </a:r>
            <a:endParaRPr lang="sv-SE" sz="1400" b="1" i="0" dirty="0">
              <a:solidFill>
                <a:srgbClr val="FFFFFF"/>
              </a:solidFill>
              <a:effectLst/>
              <a:latin typeface="+mn-lt"/>
            </a:endParaRP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1AD2BEDF-3B73-4BE3-BDE5-EAC37AA0DB00}"/>
              </a:ext>
            </a:extLst>
          </p:cNvPr>
          <p:cNvCxnSpPr>
            <a:cxnSpLocks/>
          </p:cNvCxnSpPr>
          <p:nvPr userDrawn="1"/>
        </p:nvCxnSpPr>
        <p:spPr>
          <a:xfrm>
            <a:off x="4749800" y="5754769"/>
            <a:ext cx="2021327" cy="0"/>
          </a:xfrm>
          <a:prstGeom prst="line">
            <a:avLst/>
          </a:prstGeom>
          <a:ln w="12700">
            <a:solidFill>
              <a:schemeClr val="accent4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6557FEC1-DC40-AB9B-40BF-1F616CD36AEB}"/>
              </a:ext>
            </a:extLst>
          </p:cNvPr>
          <p:cNvSpPr txBox="1"/>
          <p:nvPr userDrawn="1"/>
        </p:nvSpPr>
        <p:spPr>
          <a:xfrm>
            <a:off x="5104407" y="5738502"/>
            <a:ext cx="173130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buNone/>
            </a:pPr>
            <a:r>
              <a:rPr lang="en-GB" sz="1000" b="1" i="0" dirty="0">
                <a:solidFill>
                  <a:schemeClr val="bg1"/>
                </a:solidFill>
                <a:effectLst/>
                <a:latin typeface="+mn-lt"/>
              </a:rPr>
              <a:t>Emphasizing</a:t>
            </a:r>
            <a:br>
              <a:rPr lang="en-GB" sz="1000" b="1" i="0" dirty="0">
                <a:solidFill>
                  <a:schemeClr val="bg1"/>
                </a:solidFill>
                <a:effectLst/>
                <a:latin typeface="+mn-lt"/>
              </a:rPr>
            </a:br>
            <a:r>
              <a:rPr lang="en-GB" sz="1000" b="1" i="0" dirty="0">
                <a:solidFill>
                  <a:srgbClr val="76D2FF"/>
                </a:solidFill>
                <a:effectLst/>
                <a:latin typeface="+mn-lt"/>
              </a:rPr>
              <a:t>Prototyping &amp; Innovation</a:t>
            </a:r>
            <a:endParaRPr lang="en-GB" sz="1000" b="1" i="0" dirty="0">
              <a:solidFill>
                <a:srgbClr val="0C233C"/>
              </a:solidFill>
              <a:effectLst/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6017615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39B861A6-D06E-A63E-C3AD-38A39F5E5DE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1BD7CCF7-93F2-9679-C9BB-78D75F6D2786}"/>
              </a:ext>
            </a:extLst>
          </p:cNvPr>
          <p:cNvSpPr/>
          <p:nvPr userDrawn="1"/>
        </p:nvSpPr>
        <p:spPr>
          <a:xfrm>
            <a:off x="313531" y="250647"/>
            <a:ext cx="11564936" cy="6404153"/>
          </a:xfrm>
          <a:prstGeom prst="roundRect">
            <a:avLst>
              <a:gd name="adj" fmla="val 2825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0" tIns="54610" rIns="54610" bIns="54610" rtlCol="0" anchor="ctr"/>
          <a:lstStyle/>
          <a:p>
            <a:pPr algn="l"/>
            <a:endParaRPr lang="en-US" sz="1500" dirty="0" err="1">
              <a:solidFill>
                <a:schemeClr val="bg1"/>
              </a:solidFill>
            </a:endParaRPr>
          </a:p>
        </p:txBody>
      </p:sp>
      <p:sp>
        <p:nvSpPr>
          <p:cNvPr id="12" name="Title Placeholder 1">
            <a:extLst>
              <a:ext uri="{FF2B5EF4-FFF2-40B4-BE49-F238E27FC236}">
                <a16:creationId xmlns:a16="http://schemas.microsoft.com/office/drawing/2014/main" id="{08AD531F-81ED-B6F7-831C-7C6744AA76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128587"/>
            <a:ext cx="10858500" cy="900112"/>
          </a:xfrm>
          <a:prstGeom prst="rect">
            <a:avLst/>
          </a:prstGeom>
        </p:spPr>
        <p:txBody>
          <a:bodyPr vert="horz" lIns="0" tIns="0" rIns="0" bIns="0" rtlCol="0" anchor="b">
            <a:normAutofit/>
          </a:bodyPr>
          <a:lstStyle/>
          <a:p>
            <a:pPr lvl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</a:pPr>
            <a:r>
              <a:rPr lang="en-US" dirty="0"/>
              <a:t>Click to add title</a:t>
            </a:r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FE2042D2-35D3-2825-3C0D-22EA1A1102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0400" y="1130300"/>
            <a:ext cx="10858500" cy="5003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AF4D505F-C6F3-B075-EFAC-CEB7A35ECBC9}"/>
              </a:ext>
            </a:extLst>
          </p:cNvPr>
          <p:cNvSpPr/>
          <p:nvPr userDrawn="1"/>
        </p:nvSpPr>
        <p:spPr>
          <a:xfrm>
            <a:off x="668505" y="6244017"/>
            <a:ext cx="539145" cy="216514"/>
          </a:xfrm>
          <a:custGeom>
            <a:avLst/>
            <a:gdLst>
              <a:gd name="connsiteX0" fmla="*/ 718903 w 924046"/>
              <a:gd name="connsiteY0" fmla="*/ 0 h 371085"/>
              <a:gd name="connsiteX1" fmla="*/ 718903 w 924046"/>
              <a:gd name="connsiteY1" fmla="*/ 185206 h 371085"/>
              <a:gd name="connsiteX2" fmla="*/ 701807 w 924046"/>
              <a:gd name="connsiteY2" fmla="*/ 201665 h 371085"/>
              <a:gd name="connsiteX3" fmla="*/ 701807 w 924046"/>
              <a:gd name="connsiteY3" fmla="*/ 0 h 371085"/>
              <a:gd name="connsiteX4" fmla="*/ 496663 w 924046"/>
              <a:gd name="connsiteY4" fmla="*/ 0 h 371085"/>
              <a:gd name="connsiteX5" fmla="*/ 496663 w 924046"/>
              <a:gd name="connsiteY5" fmla="*/ 168634 h 371085"/>
              <a:gd name="connsiteX6" fmla="*/ 479680 w 924046"/>
              <a:gd name="connsiteY6" fmla="*/ 168634 h 371085"/>
              <a:gd name="connsiteX7" fmla="*/ 479680 w 924046"/>
              <a:gd name="connsiteY7" fmla="*/ 0 h 371085"/>
              <a:gd name="connsiteX8" fmla="*/ 274498 w 924046"/>
              <a:gd name="connsiteY8" fmla="*/ 0 h 371085"/>
              <a:gd name="connsiteX9" fmla="*/ 274498 w 924046"/>
              <a:gd name="connsiteY9" fmla="*/ 168896 h 371085"/>
              <a:gd name="connsiteX10" fmla="*/ 257515 w 924046"/>
              <a:gd name="connsiteY10" fmla="*/ 168896 h 371085"/>
              <a:gd name="connsiteX11" fmla="*/ 257515 w 924046"/>
              <a:gd name="connsiteY11" fmla="*/ 0 h 371085"/>
              <a:gd name="connsiteX12" fmla="*/ 52371 w 924046"/>
              <a:gd name="connsiteY12" fmla="*/ 0 h 371085"/>
              <a:gd name="connsiteX13" fmla="*/ 52371 w 924046"/>
              <a:gd name="connsiteY13" fmla="*/ 192500 h 371085"/>
              <a:gd name="connsiteX14" fmla="*/ 0 w 924046"/>
              <a:gd name="connsiteY14" fmla="*/ 367045 h 371085"/>
              <a:gd name="connsiteX15" fmla="*/ 46049 w 924046"/>
              <a:gd name="connsiteY15" fmla="*/ 367045 h 371085"/>
              <a:gd name="connsiteX16" fmla="*/ 69167 w 924046"/>
              <a:gd name="connsiteY16" fmla="*/ 289761 h 371085"/>
              <a:gd name="connsiteX17" fmla="*/ 75826 w 924046"/>
              <a:gd name="connsiteY17" fmla="*/ 289761 h 371085"/>
              <a:gd name="connsiteX18" fmla="*/ 114019 w 924046"/>
              <a:gd name="connsiteY18" fmla="*/ 367045 h 371085"/>
              <a:gd name="connsiteX19" fmla="*/ 169644 w 924046"/>
              <a:gd name="connsiteY19" fmla="*/ 367045 h 371085"/>
              <a:gd name="connsiteX20" fmla="*/ 132611 w 924046"/>
              <a:gd name="connsiteY20" fmla="*/ 289761 h 371085"/>
              <a:gd name="connsiteX21" fmla="*/ 216666 w 924046"/>
              <a:gd name="connsiteY21" fmla="*/ 289761 h 371085"/>
              <a:gd name="connsiteX22" fmla="*/ 193361 w 924046"/>
              <a:gd name="connsiteY22" fmla="*/ 367045 h 371085"/>
              <a:gd name="connsiteX23" fmla="*/ 243674 w 924046"/>
              <a:gd name="connsiteY23" fmla="*/ 367045 h 371085"/>
              <a:gd name="connsiteX24" fmla="*/ 266680 w 924046"/>
              <a:gd name="connsiteY24" fmla="*/ 289948 h 371085"/>
              <a:gd name="connsiteX25" fmla="*/ 277715 w 924046"/>
              <a:gd name="connsiteY25" fmla="*/ 289948 h 371085"/>
              <a:gd name="connsiteX26" fmla="*/ 277715 w 924046"/>
              <a:gd name="connsiteY26" fmla="*/ 289723 h 371085"/>
              <a:gd name="connsiteX27" fmla="*/ 389752 w 924046"/>
              <a:gd name="connsiteY27" fmla="*/ 289723 h 371085"/>
              <a:gd name="connsiteX28" fmla="*/ 367531 w 924046"/>
              <a:gd name="connsiteY28" fmla="*/ 366783 h 371085"/>
              <a:gd name="connsiteX29" fmla="*/ 418256 w 924046"/>
              <a:gd name="connsiteY29" fmla="*/ 366783 h 371085"/>
              <a:gd name="connsiteX30" fmla="*/ 439803 w 924046"/>
              <a:gd name="connsiteY30" fmla="*/ 289723 h 371085"/>
              <a:gd name="connsiteX31" fmla="*/ 462622 w 924046"/>
              <a:gd name="connsiteY31" fmla="*/ 289723 h 371085"/>
              <a:gd name="connsiteX32" fmla="*/ 463220 w 924046"/>
              <a:gd name="connsiteY32" fmla="*/ 366783 h 371085"/>
              <a:gd name="connsiteX33" fmla="*/ 505791 w 924046"/>
              <a:gd name="connsiteY33" fmla="*/ 366783 h 371085"/>
              <a:gd name="connsiteX34" fmla="*/ 554608 w 924046"/>
              <a:gd name="connsiteY34" fmla="*/ 289723 h 371085"/>
              <a:gd name="connsiteX35" fmla="*/ 586591 w 924046"/>
              <a:gd name="connsiteY35" fmla="*/ 289723 h 371085"/>
              <a:gd name="connsiteX36" fmla="*/ 570094 w 924046"/>
              <a:gd name="connsiteY36" fmla="*/ 366783 h 371085"/>
              <a:gd name="connsiteX37" fmla="*/ 620034 w 924046"/>
              <a:gd name="connsiteY37" fmla="*/ 366783 h 371085"/>
              <a:gd name="connsiteX38" fmla="*/ 636231 w 924046"/>
              <a:gd name="connsiteY38" fmla="*/ 289723 h 371085"/>
              <a:gd name="connsiteX39" fmla="*/ 665110 w 924046"/>
              <a:gd name="connsiteY39" fmla="*/ 289723 h 371085"/>
              <a:gd name="connsiteX40" fmla="*/ 685909 w 924046"/>
              <a:gd name="connsiteY40" fmla="*/ 349912 h 371085"/>
              <a:gd name="connsiteX41" fmla="*/ 756984 w 924046"/>
              <a:gd name="connsiteY41" fmla="*/ 371085 h 371085"/>
              <a:gd name="connsiteX42" fmla="*/ 849755 w 924046"/>
              <a:gd name="connsiteY42" fmla="*/ 359676 h 371085"/>
              <a:gd name="connsiteX43" fmla="*/ 867037 w 924046"/>
              <a:gd name="connsiteY43" fmla="*/ 289686 h 371085"/>
              <a:gd name="connsiteX44" fmla="*/ 924047 w 924046"/>
              <a:gd name="connsiteY44" fmla="*/ 289686 h 371085"/>
              <a:gd name="connsiteX45" fmla="*/ 924047 w 924046"/>
              <a:gd name="connsiteY45" fmla="*/ 0 h 371085"/>
              <a:gd name="connsiteX46" fmla="*/ 718903 w 924046"/>
              <a:gd name="connsiteY46" fmla="*/ 0 h 371085"/>
              <a:gd name="connsiteX47" fmla="*/ 250108 w 924046"/>
              <a:gd name="connsiteY47" fmla="*/ 178734 h 371085"/>
              <a:gd name="connsiteX48" fmla="*/ 247153 w 924046"/>
              <a:gd name="connsiteY48" fmla="*/ 188610 h 371085"/>
              <a:gd name="connsiteX49" fmla="*/ 219883 w 924046"/>
              <a:gd name="connsiteY49" fmla="*/ 279361 h 371085"/>
              <a:gd name="connsiteX50" fmla="*/ 218798 w 924046"/>
              <a:gd name="connsiteY50" fmla="*/ 282541 h 371085"/>
              <a:gd name="connsiteX51" fmla="*/ 129057 w 924046"/>
              <a:gd name="connsiteY51" fmla="*/ 282541 h 371085"/>
              <a:gd name="connsiteX52" fmla="*/ 122062 w 924046"/>
              <a:gd name="connsiteY52" fmla="*/ 267765 h 371085"/>
              <a:gd name="connsiteX53" fmla="*/ 218798 w 924046"/>
              <a:gd name="connsiteY53" fmla="*/ 168896 h 371085"/>
              <a:gd name="connsiteX54" fmla="*/ 156664 w 924046"/>
              <a:gd name="connsiteY54" fmla="*/ 168896 h 371085"/>
              <a:gd name="connsiteX55" fmla="*/ 81025 w 924046"/>
              <a:gd name="connsiteY55" fmla="*/ 250370 h 371085"/>
              <a:gd name="connsiteX56" fmla="*/ 105527 w 924046"/>
              <a:gd name="connsiteY56" fmla="*/ 168896 h 371085"/>
              <a:gd name="connsiteX57" fmla="*/ 59703 w 924046"/>
              <a:gd name="connsiteY57" fmla="*/ 168896 h 371085"/>
              <a:gd name="connsiteX58" fmla="*/ 59703 w 924046"/>
              <a:gd name="connsiteY58" fmla="*/ 7295 h 371085"/>
              <a:gd name="connsiteX59" fmla="*/ 250146 w 924046"/>
              <a:gd name="connsiteY59" fmla="*/ 7295 h 371085"/>
              <a:gd name="connsiteX60" fmla="*/ 250146 w 924046"/>
              <a:gd name="connsiteY60" fmla="*/ 178734 h 371085"/>
              <a:gd name="connsiteX61" fmla="*/ 303115 w 924046"/>
              <a:gd name="connsiteY61" fmla="*/ 255458 h 371085"/>
              <a:gd name="connsiteX62" fmla="*/ 303040 w 924046"/>
              <a:gd name="connsiteY62" fmla="*/ 255458 h 371085"/>
              <a:gd name="connsiteX63" fmla="*/ 297205 w 924046"/>
              <a:gd name="connsiteY63" fmla="*/ 255720 h 371085"/>
              <a:gd name="connsiteX64" fmla="*/ 290172 w 924046"/>
              <a:gd name="connsiteY64" fmla="*/ 255794 h 371085"/>
              <a:gd name="connsiteX65" fmla="*/ 277977 w 924046"/>
              <a:gd name="connsiteY65" fmla="*/ 255720 h 371085"/>
              <a:gd name="connsiteX66" fmla="*/ 283626 w 924046"/>
              <a:gd name="connsiteY66" fmla="*/ 234846 h 371085"/>
              <a:gd name="connsiteX67" fmla="*/ 286282 w 924046"/>
              <a:gd name="connsiteY67" fmla="*/ 224484 h 371085"/>
              <a:gd name="connsiteX68" fmla="*/ 292678 w 924046"/>
              <a:gd name="connsiteY68" fmla="*/ 200244 h 371085"/>
              <a:gd name="connsiteX69" fmla="*/ 300946 w 924046"/>
              <a:gd name="connsiteY69" fmla="*/ 200132 h 371085"/>
              <a:gd name="connsiteX70" fmla="*/ 310372 w 924046"/>
              <a:gd name="connsiteY70" fmla="*/ 200132 h 371085"/>
              <a:gd name="connsiteX71" fmla="*/ 340411 w 924046"/>
              <a:gd name="connsiteY71" fmla="*/ 206229 h 371085"/>
              <a:gd name="connsiteX72" fmla="*/ 339513 w 924046"/>
              <a:gd name="connsiteY72" fmla="*/ 227065 h 371085"/>
              <a:gd name="connsiteX73" fmla="*/ 303078 w 924046"/>
              <a:gd name="connsiteY73" fmla="*/ 255458 h 371085"/>
              <a:gd name="connsiteX74" fmla="*/ 441823 w 924046"/>
              <a:gd name="connsiteY74" fmla="*/ 282541 h 371085"/>
              <a:gd name="connsiteX75" fmla="*/ 461874 w 924046"/>
              <a:gd name="connsiteY75" fmla="*/ 211317 h 371085"/>
              <a:gd name="connsiteX76" fmla="*/ 462585 w 924046"/>
              <a:gd name="connsiteY76" fmla="*/ 282541 h 371085"/>
              <a:gd name="connsiteX77" fmla="*/ 441823 w 924046"/>
              <a:gd name="connsiteY77" fmla="*/ 282541 h 371085"/>
              <a:gd name="connsiteX78" fmla="*/ 472311 w 924046"/>
              <a:gd name="connsiteY78" fmla="*/ 168672 h 371085"/>
              <a:gd name="connsiteX79" fmla="*/ 424616 w 924046"/>
              <a:gd name="connsiteY79" fmla="*/ 168672 h 371085"/>
              <a:gd name="connsiteX80" fmla="*/ 391884 w 924046"/>
              <a:gd name="connsiteY80" fmla="*/ 282541 h 371085"/>
              <a:gd name="connsiteX81" fmla="*/ 341309 w 924046"/>
              <a:gd name="connsiteY81" fmla="*/ 282541 h 371085"/>
              <a:gd name="connsiteX82" fmla="*/ 387619 w 924046"/>
              <a:gd name="connsiteY82" fmla="*/ 227813 h 371085"/>
              <a:gd name="connsiteX83" fmla="*/ 381148 w 924046"/>
              <a:gd name="connsiteY83" fmla="*/ 182625 h 371085"/>
              <a:gd name="connsiteX84" fmla="*/ 319724 w 924046"/>
              <a:gd name="connsiteY84" fmla="*/ 168597 h 371085"/>
              <a:gd name="connsiteX85" fmla="*/ 281868 w 924046"/>
              <a:gd name="connsiteY85" fmla="*/ 168672 h 371085"/>
              <a:gd name="connsiteX86" fmla="*/ 281868 w 924046"/>
              <a:gd name="connsiteY86" fmla="*/ 7295 h 371085"/>
              <a:gd name="connsiteX87" fmla="*/ 472311 w 924046"/>
              <a:gd name="connsiteY87" fmla="*/ 7295 h 371085"/>
              <a:gd name="connsiteX88" fmla="*/ 472311 w 924046"/>
              <a:gd name="connsiteY88" fmla="*/ 168634 h 371085"/>
              <a:gd name="connsiteX89" fmla="*/ 588013 w 924046"/>
              <a:gd name="connsiteY89" fmla="*/ 282541 h 371085"/>
              <a:gd name="connsiteX90" fmla="*/ 559358 w 924046"/>
              <a:gd name="connsiteY90" fmla="*/ 282541 h 371085"/>
              <a:gd name="connsiteX91" fmla="*/ 602752 w 924046"/>
              <a:gd name="connsiteY91" fmla="*/ 214272 h 371085"/>
              <a:gd name="connsiteX92" fmla="*/ 588050 w 924046"/>
              <a:gd name="connsiteY92" fmla="*/ 282541 h 371085"/>
              <a:gd name="connsiteX93" fmla="*/ 694438 w 924046"/>
              <a:gd name="connsiteY93" fmla="*/ 171851 h 371085"/>
              <a:gd name="connsiteX94" fmla="*/ 694326 w 924046"/>
              <a:gd name="connsiteY94" fmla="*/ 211317 h 371085"/>
              <a:gd name="connsiteX95" fmla="*/ 668926 w 924046"/>
              <a:gd name="connsiteY95" fmla="*/ 265857 h 371085"/>
              <a:gd name="connsiteX96" fmla="*/ 665896 w 924046"/>
              <a:gd name="connsiteY96" fmla="*/ 282541 h 371085"/>
              <a:gd name="connsiteX97" fmla="*/ 637877 w 924046"/>
              <a:gd name="connsiteY97" fmla="*/ 282541 h 371085"/>
              <a:gd name="connsiteX98" fmla="*/ 661818 w 924046"/>
              <a:gd name="connsiteY98" fmla="*/ 168934 h 371085"/>
              <a:gd name="connsiteX99" fmla="*/ 581242 w 924046"/>
              <a:gd name="connsiteY99" fmla="*/ 168821 h 371085"/>
              <a:gd name="connsiteX100" fmla="*/ 509082 w 924046"/>
              <a:gd name="connsiteY100" fmla="*/ 282541 h 371085"/>
              <a:gd name="connsiteX101" fmla="*/ 503845 w 924046"/>
              <a:gd name="connsiteY101" fmla="*/ 282541 h 371085"/>
              <a:gd name="connsiteX102" fmla="*/ 503845 w 924046"/>
              <a:gd name="connsiteY102" fmla="*/ 7295 h 371085"/>
              <a:gd name="connsiteX103" fmla="*/ 694401 w 924046"/>
              <a:gd name="connsiteY103" fmla="*/ 7295 h 371085"/>
              <a:gd name="connsiteX104" fmla="*/ 694401 w 924046"/>
              <a:gd name="connsiteY104" fmla="*/ 171814 h 371085"/>
              <a:gd name="connsiteX105" fmla="*/ 804305 w 924046"/>
              <a:gd name="connsiteY105" fmla="*/ 329076 h 371085"/>
              <a:gd name="connsiteX106" fmla="*/ 772246 w 924046"/>
              <a:gd name="connsiteY106" fmla="*/ 332368 h 371085"/>
              <a:gd name="connsiteX107" fmla="*/ 725225 w 924046"/>
              <a:gd name="connsiteY107" fmla="*/ 289798 h 371085"/>
              <a:gd name="connsiteX108" fmla="*/ 814031 w 924046"/>
              <a:gd name="connsiteY108" fmla="*/ 289798 h 371085"/>
              <a:gd name="connsiteX109" fmla="*/ 804267 w 924046"/>
              <a:gd name="connsiteY109" fmla="*/ 329076 h 371085"/>
              <a:gd name="connsiteX110" fmla="*/ 916790 w 924046"/>
              <a:gd name="connsiteY110" fmla="*/ 282541 h 371085"/>
              <a:gd name="connsiteX111" fmla="*/ 868796 w 924046"/>
              <a:gd name="connsiteY111" fmla="*/ 282541 h 371085"/>
              <a:gd name="connsiteX112" fmla="*/ 876726 w 924046"/>
              <a:gd name="connsiteY112" fmla="*/ 250819 h 371085"/>
              <a:gd name="connsiteX113" fmla="*/ 780513 w 924046"/>
              <a:gd name="connsiteY113" fmla="*/ 250819 h 371085"/>
              <a:gd name="connsiteX114" fmla="*/ 772620 w 924046"/>
              <a:gd name="connsiteY114" fmla="*/ 282541 h 371085"/>
              <a:gd name="connsiteX115" fmla="*/ 726160 w 924046"/>
              <a:gd name="connsiteY115" fmla="*/ 282541 h 371085"/>
              <a:gd name="connsiteX116" fmla="*/ 726160 w 924046"/>
              <a:gd name="connsiteY116" fmla="*/ 276032 h 371085"/>
              <a:gd name="connsiteX117" fmla="*/ 728404 w 924046"/>
              <a:gd name="connsiteY117" fmla="*/ 264698 h 371085"/>
              <a:gd name="connsiteX118" fmla="*/ 798207 w 924046"/>
              <a:gd name="connsiteY118" fmla="*/ 196615 h 371085"/>
              <a:gd name="connsiteX119" fmla="*/ 826787 w 924046"/>
              <a:gd name="connsiteY119" fmla="*/ 223773 h 371085"/>
              <a:gd name="connsiteX120" fmla="*/ 883983 w 924046"/>
              <a:gd name="connsiteY120" fmla="*/ 223773 h 371085"/>
              <a:gd name="connsiteX121" fmla="*/ 879270 w 924046"/>
              <a:gd name="connsiteY121" fmla="*/ 181353 h 371085"/>
              <a:gd name="connsiteX122" fmla="*/ 810626 w 924046"/>
              <a:gd name="connsiteY122" fmla="*/ 157674 h 371085"/>
              <a:gd name="connsiteX123" fmla="*/ 726160 w 924046"/>
              <a:gd name="connsiteY123" fmla="*/ 179969 h 371085"/>
              <a:gd name="connsiteX124" fmla="*/ 726160 w 924046"/>
              <a:gd name="connsiteY124" fmla="*/ 7295 h 371085"/>
              <a:gd name="connsiteX125" fmla="*/ 916827 w 924046"/>
              <a:gd name="connsiteY125" fmla="*/ 7295 h 371085"/>
              <a:gd name="connsiteX126" fmla="*/ 916827 w 924046"/>
              <a:gd name="connsiteY126" fmla="*/ 282504 h 3710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</a:cxnLst>
            <a:rect l="l" t="t" r="r" b="b"/>
            <a:pathLst>
              <a:path w="924046" h="371085">
                <a:moveTo>
                  <a:pt x="718903" y="0"/>
                </a:moveTo>
                <a:lnTo>
                  <a:pt x="718903" y="185206"/>
                </a:lnTo>
                <a:cubicBezTo>
                  <a:pt x="712431" y="190293"/>
                  <a:pt x="706932" y="195792"/>
                  <a:pt x="701807" y="201665"/>
                </a:cubicBezTo>
                <a:lnTo>
                  <a:pt x="701807" y="0"/>
                </a:lnTo>
                <a:lnTo>
                  <a:pt x="496663" y="0"/>
                </a:lnTo>
                <a:lnTo>
                  <a:pt x="496663" y="168634"/>
                </a:lnTo>
                <a:lnTo>
                  <a:pt x="479680" y="168634"/>
                </a:lnTo>
                <a:lnTo>
                  <a:pt x="479680" y="0"/>
                </a:lnTo>
                <a:lnTo>
                  <a:pt x="274498" y="0"/>
                </a:lnTo>
                <a:lnTo>
                  <a:pt x="274498" y="168896"/>
                </a:lnTo>
                <a:lnTo>
                  <a:pt x="257515" y="168896"/>
                </a:lnTo>
                <a:lnTo>
                  <a:pt x="257515" y="0"/>
                </a:lnTo>
                <a:lnTo>
                  <a:pt x="52371" y="0"/>
                </a:lnTo>
                <a:lnTo>
                  <a:pt x="52371" y="192500"/>
                </a:lnTo>
                <a:lnTo>
                  <a:pt x="0" y="367045"/>
                </a:lnTo>
                <a:lnTo>
                  <a:pt x="46049" y="367045"/>
                </a:lnTo>
                <a:lnTo>
                  <a:pt x="69167" y="289761"/>
                </a:lnTo>
                <a:lnTo>
                  <a:pt x="75826" y="289761"/>
                </a:lnTo>
                <a:lnTo>
                  <a:pt x="114019" y="367045"/>
                </a:lnTo>
                <a:lnTo>
                  <a:pt x="169644" y="367045"/>
                </a:lnTo>
                <a:lnTo>
                  <a:pt x="132611" y="289761"/>
                </a:lnTo>
                <a:lnTo>
                  <a:pt x="216666" y="289761"/>
                </a:lnTo>
                <a:lnTo>
                  <a:pt x="193361" y="367045"/>
                </a:lnTo>
                <a:lnTo>
                  <a:pt x="243674" y="367045"/>
                </a:lnTo>
                <a:lnTo>
                  <a:pt x="266680" y="289948"/>
                </a:lnTo>
                <a:lnTo>
                  <a:pt x="277715" y="289948"/>
                </a:lnTo>
                <a:lnTo>
                  <a:pt x="277715" y="289723"/>
                </a:lnTo>
                <a:lnTo>
                  <a:pt x="389752" y="289723"/>
                </a:lnTo>
                <a:lnTo>
                  <a:pt x="367531" y="366783"/>
                </a:lnTo>
                <a:lnTo>
                  <a:pt x="418256" y="366783"/>
                </a:lnTo>
                <a:lnTo>
                  <a:pt x="439803" y="289723"/>
                </a:lnTo>
                <a:lnTo>
                  <a:pt x="462622" y="289723"/>
                </a:lnTo>
                <a:lnTo>
                  <a:pt x="463220" y="366783"/>
                </a:lnTo>
                <a:lnTo>
                  <a:pt x="505791" y="366783"/>
                </a:lnTo>
                <a:lnTo>
                  <a:pt x="554608" y="289723"/>
                </a:lnTo>
                <a:lnTo>
                  <a:pt x="586591" y="289723"/>
                </a:lnTo>
                <a:lnTo>
                  <a:pt x="570094" y="366783"/>
                </a:lnTo>
                <a:lnTo>
                  <a:pt x="620034" y="366783"/>
                </a:lnTo>
                <a:lnTo>
                  <a:pt x="636231" y="289723"/>
                </a:lnTo>
                <a:lnTo>
                  <a:pt x="665110" y="289723"/>
                </a:lnTo>
                <a:cubicBezTo>
                  <a:pt x="663951" y="313589"/>
                  <a:pt x="670085" y="335323"/>
                  <a:pt x="685909" y="349912"/>
                </a:cubicBezTo>
                <a:cubicBezTo>
                  <a:pt x="705249" y="367719"/>
                  <a:pt x="734988" y="371085"/>
                  <a:pt x="756984" y="371085"/>
                </a:cubicBezTo>
                <a:cubicBezTo>
                  <a:pt x="787060" y="371085"/>
                  <a:pt x="818295" y="366746"/>
                  <a:pt x="849755" y="359676"/>
                </a:cubicBezTo>
                <a:lnTo>
                  <a:pt x="867037" y="289686"/>
                </a:lnTo>
                <a:lnTo>
                  <a:pt x="924047" y="289686"/>
                </a:lnTo>
                <a:lnTo>
                  <a:pt x="924047" y="0"/>
                </a:lnTo>
                <a:lnTo>
                  <a:pt x="718903" y="0"/>
                </a:lnTo>
                <a:close/>
                <a:moveTo>
                  <a:pt x="250108" y="178734"/>
                </a:moveTo>
                <a:lnTo>
                  <a:pt x="247153" y="188610"/>
                </a:lnTo>
                <a:lnTo>
                  <a:pt x="219883" y="279361"/>
                </a:lnTo>
                <a:lnTo>
                  <a:pt x="218798" y="282541"/>
                </a:lnTo>
                <a:lnTo>
                  <a:pt x="129057" y="282541"/>
                </a:lnTo>
                <a:lnTo>
                  <a:pt x="122062" y="267765"/>
                </a:lnTo>
                <a:lnTo>
                  <a:pt x="218798" y="168896"/>
                </a:lnTo>
                <a:lnTo>
                  <a:pt x="156664" y="168896"/>
                </a:lnTo>
                <a:lnTo>
                  <a:pt x="81025" y="250370"/>
                </a:lnTo>
                <a:lnTo>
                  <a:pt x="105527" y="168896"/>
                </a:lnTo>
                <a:lnTo>
                  <a:pt x="59703" y="168896"/>
                </a:lnTo>
                <a:lnTo>
                  <a:pt x="59703" y="7295"/>
                </a:lnTo>
                <a:lnTo>
                  <a:pt x="250146" y="7295"/>
                </a:lnTo>
                <a:lnTo>
                  <a:pt x="250146" y="178734"/>
                </a:lnTo>
                <a:close/>
                <a:moveTo>
                  <a:pt x="303115" y="255458"/>
                </a:moveTo>
                <a:lnTo>
                  <a:pt x="303040" y="255458"/>
                </a:lnTo>
                <a:cubicBezTo>
                  <a:pt x="301207" y="255570"/>
                  <a:pt x="299337" y="255720"/>
                  <a:pt x="297205" y="255720"/>
                </a:cubicBezTo>
                <a:cubicBezTo>
                  <a:pt x="294399" y="255720"/>
                  <a:pt x="292230" y="255794"/>
                  <a:pt x="290172" y="255794"/>
                </a:cubicBezTo>
                <a:lnTo>
                  <a:pt x="277977" y="255720"/>
                </a:lnTo>
                <a:lnTo>
                  <a:pt x="283626" y="234846"/>
                </a:lnTo>
                <a:lnTo>
                  <a:pt x="286282" y="224484"/>
                </a:lnTo>
                <a:lnTo>
                  <a:pt x="292678" y="200244"/>
                </a:lnTo>
                <a:cubicBezTo>
                  <a:pt x="295484" y="200244"/>
                  <a:pt x="298290" y="200132"/>
                  <a:pt x="300946" y="200132"/>
                </a:cubicBezTo>
                <a:lnTo>
                  <a:pt x="310372" y="200132"/>
                </a:lnTo>
                <a:cubicBezTo>
                  <a:pt x="326495" y="200132"/>
                  <a:pt x="336707" y="201067"/>
                  <a:pt x="340411" y="206229"/>
                </a:cubicBezTo>
                <a:cubicBezTo>
                  <a:pt x="343254" y="210120"/>
                  <a:pt x="342880" y="216853"/>
                  <a:pt x="339513" y="227065"/>
                </a:cubicBezTo>
                <a:cubicBezTo>
                  <a:pt x="333790" y="244684"/>
                  <a:pt x="326495" y="253662"/>
                  <a:pt x="303078" y="255458"/>
                </a:cubicBezTo>
                <a:close/>
                <a:moveTo>
                  <a:pt x="441823" y="282541"/>
                </a:moveTo>
                <a:lnTo>
                  <a:pt x="461874" y="211317"/>
                </a:lnTo>
                <a:lnTo>
                  <a:pt x="462585" y="282541"/>
                </a:lnTo>
                <a:lnTo>
                  <a:pt x="441823" y="282541"/>
                </a:lnTo>
                <a:close/>
                <a:moveTo>
                  <a:pt x="472311" y="168672"/>
                </a:moveTo>
                <a:lnTo>
                  <a:pt x="424616" y="168672"/>
                </a:lnTo>
                <a:lnTo>
                  <a:pt x="391884" y="282541"/>
                </a:lnTo>
                <a:lnTo>
                  <a:pt x="341309" y="282541"/>
                </a:lnTo>
                <a:cubicBezTo>
                  <a:pt x="367082" y="273002"/>
                  <a:pt x="382756" y="254822"/>
                  <a:pt x="387619" y="227813"/>
                </a:cubicBezTo>
                <a:cubicBezTo>
                  <a:pt x="391622" y="206828"/>
                  <a:pt x="389714" y="192987"/>
                  <a:pt x="381148" y="182625"/>
                </a:cubicBezTo>
                <a:cubicBezTo>
                  <a:pt x="368317" y="167250"/>
                  <a:pt x="342580" y="168597"/>
                  <a:pt x="319724" y="168597"/>
                </a:cubicBezTo>
                <a:cubicBezTo>
                  <a:pt x="315722" y="168597"/>
                  <a:pt x="281868" y="168672"/>
                  <a:pt x="281868" y="168672"/>
                </a:cubicBezTo>
                <a:lnTo>
                  <a:pt x="281868" y="7295"/>
                </a:lnTo>
                <a:lnTo>
                  <a:pt x="472311" y="7295"/>
                </a:lnTo>
                <a:lnTo>
                  <a:pt x="472311" y="168634"/>
                </a:lnTo>
                <a:close/>
                <a:moveTo>
                  <a:pt x="588013" y="282541"/>
                </a:moveTo>
                <a:lnTo>
                  <a:pt x="559358" y="282541"/>
                </a:lnTo>
                <a:lnTo>
                  <a:pt x="602752" y="214272"/>
                </a:lnTo>
                <a:lnTo>
                  <a:pt x="588050" y="282541"/>
                </a:lnTo>
                <a:close/>
                <a:moveTo>
                  <a:pt x="694438" y="171851"/>
                </a:moveTo>
                <a:lnTo>
                  <a:pt x="694326" y="211317"/>
                </a:lnTo>
                <a:cubicBezTo>
                  <a:pt x="681046" y="229684"/>
                  <a:pt x="672816" y="249734"/>
                  <a:pt x="668926" y="265857"/>
                </a:cubicBezTo>
                <a:cubicBezTo>
                  <a:pt x="667467" y="271468"/>
                  <a:pt x="666457" y="276967"/>
                  <a:pt x="665896" y="282541"/>
                </a:cubicBezTo>
                <a:lnTo>
                  <a:pt x="637877" y="282541"/>
                </a:lnTo>
                <a:lnTo>
                  <a:pt x="661818" y="168934"/>
                </a:lnTo>
                <a:lnTo>
                  <a:pt x="581242" y="168821"/>
                </a:lnTo>
                <a:lnTo>
                  <a:pt x="509082" y="282541"/>
                </a:lnTo>
                <a:lnTo>
                  <a:pt x="503845" y="282541"/>
                </a:lnTo>
                <a:lnTo>
                  <a:pt x="503845" y="7295"/>
                </a:lnTo>
                <a:lnTo>
                  <a:pt x="694401" y="7295"/>
                </a:lnTo>
                <a:lnTo>
                  <a:pt x="694401" y="171814"/>
                </a:lnTo>
                <a:close/>
                <a:moveTo>
                  <a:pt x="804305" y="329076"/>
                </a:moveTo>
                <a:cubicBezTo>
                  <a:pt x="793419" y="331059"/>
                  <a:pt x="782571" y="332368"/>
                  <a:pt x="772246" y="332368"/>
                </a:cubicBezTo>
                <a:cubicBezTo>
                  <a:pt x="744789" y="332368"/>
                  <a:pt x="725636" y="319575"/>
                  <a:pt x="725225" y="289798"/>
                </a:cubicBezTo>
                <a:lnTo>
                  <a:pt x="814031" y="289798"/>
                </a:lnTo>
                <a:lnTo>
                  <a:pt x="804267" y="329076"/>
                </a:lnTo>
                <a:close/>
                <a:moveTo>
                  <a:pt x="916790" y="282541"/>
                </a:moveTo>
                <a:lnTo>
                  <a:pt x="868796" y="282541"/>
                </a:lnTo>
                <a:lnTo>
                  <a:pt x="876726" y="250819"/>
                </a:lnTo>
                <a:lnTo>
                  <a:pt x="780513" y="250819"/>
                </a:lnTo>
                <a:lnTo>
                  <a:pt x="772620" y="282541"/>
                </a:lnTo>
                <a:lnTo>
                  <a:pt x="726160" y="282541"/>
                </a:lnTo>
                <a:lnTo>
                  <a:pt x="726160" y="276032"/>
                </a:lnTo>
                <a:cubicBezTo>
                  <a:pt x="726870" y="272478"/>
                  <a:pt x="727506" y="268700"/>
                  <a:pt x="728404" y="264698"/>
                </a:cubicBezTo>
                <a:cubicBezTo>
                  <a:pt x="736858" y="230469"/>
                  <a:pt x="759340" y="196615"/>
                  <a:pt x="798207" y="196615"/>
                </a:cubicBezTo>
                <a:cubicBezTo>
                  <a:pt x="813619" y="196615"/>
                  <a:pt x="828881" y="202488"/>
                  <a:pt x="826787" y="223773"/>
                </a:cubicBezTo>
                <a:lnTo>
                  <a:pt x="883983" y="223773"/>
                </a:lnTo>
                <a:cubicBezTo>
                  <a:pt x="886265" y="213823"/>
                  <a:pt x="890043" y="196915"/>
                  <a:pt x="879270" y="181353"/>
                </a:cubicBezTo>
                <a:cubicBezTo>
                  <a:pt x="867075" y="164445"/>
                  <a:pt x="842498" y="157674"/>
                  <a:pt x="810626" y="157674"/>
                </a:cubicBezTo>
                <a:cubicBezTo>
                  <a:pt x="787957" y="157674"/>
                  <a:pt x="754777" y="161302"/>
                  <a:pt x="726160" y="179969"/>
                </a:cubicBezTo>
                <a:lnTo>
                  <a:pt x="726160" y="7295"/>
                </a:lnTo>
                <a:lnTo>
                  <a:pt x="916827" y="7295"/>
                </a:lnTo>
                <a:lnTo>
                  <a:pt x="916827" y="282504"/>
                </a:lnTo>
                <a:close/>
              </a:path>
            </a:pathLst>
          </a:custGeom>
          <a:solidFill>
            <a:schemeClr val="tx2"/>
          </a:solidFill>
          <a:ln w="3741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8" name="TextBox 29">
            <a:extLst>
              <a:ext uri="{FF2B5EF4-FFF2-40B4-BE49-F238E27FC236}">
                <a16:creationId xmlns:a16="http://schemas.microsoft.com/office/drawing/2014/main" id="{01D3BA27-967C-C704-A812-98935083CCF1}"/>
              </a:ext>
            </a:extLst>
          </p:cNvPr>
          <p:cNvSpPr txBox="1"/>
          <p:nvPr userDrawn="1">
            <p:custDataLst>
              <p:tags r:id="rId1"/>
            </p:custDataLst>
          </p:nvPr>
        </p:nvSpPr>
        <p:spPr>
          <a:xfrm>
            <a:off x="1808382" y="6274627"/>
            <a:ext cx="5252061" cy="3708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600" kern="1200" noProof="0" dirty="0">
                <a:solidFill>
                  <a:schemeClr val="bg1">
                    <a:lumMod val="65000"/>
                  </a:schemeClr>
                </a:solidFill>
                <a:effectLst/>
                <a:latin typeface="Arial" panose="020B0604020202020204" pitchFamily="34" charset="0"/>
                <a:ea typeface="DengXian" panose="02010600030101010101" pitchFamily="2" charset="-122"/>
                <a:cs typeface="Arial" panose="020B0604020202020204" pitchFamily="34" charset="0"/>
              </a:rPr>
              <a:t>© 2026 KPMG </a:t>
            </a:r>
            <a:r>
              <a:rPr lang="en-GB" sz="600" kern="1200" noProof="0" dirty="0" err="1">
                <a:solidFill>
                  <a:schemeClr val="bg1">
                    <a:lumMod val="65000"/>
                  </a:schemeClr>
                </a:solidFill>
                <a:effectLst/>
                <a:latin typeface="Arial" panose="020B0604020202020204" pitchFamily="34" charset="0"/>
                <a:ea typeface="DengXian" panose="02010600030101010101" pitchFamily="2" charset="-122"/>
                <a:cs typeface="Arial" panose="020B0604020202020204" pitchFamily="34" charset="0"/>
              </a:rPr>
              <a:t>Huazhen</a:t>
            </a:r>
            <a:r>
              <a:rPr lang="en-GB" sz="600" kern="1200" noProof="0" dirty="0">
                <a:solidFill>
                  <a:schemeClr val="bg1">
                    <a:lumMod val="65000"/>
                  </a:schemeClr>
                </a:solidFill>
                <a:effectLst/>
                <a:latin typeface="Arial" panose="020B0604020202020204" pitchFamily="34" charset="0"/>
                <a:ea typeface="DengXian" panose="02010600030101010101" pitchFamily="2" charset="-122"/>
                <a:cs typeface="Arial" panose="020B0604020202020204" pitchFamily="34" charset="0"/>
              </a:rPr>
              <a:t> LLP, a People's Republic of China partnership, KPMG Advisory (China) Limited, a limited liability company in Chinese Mainland, KPMG, a Macao SAR partnership, and KPMG, a Hong Kong SAR partnership, are member firms of the KPMG global organisation of independent member firms affiliated with KPMG International Limited, a private English company limited by guarantee. All rights reserved.</a:t>
            </a:r>
          </a:p>
        </p:txBody>
      </p:sp>
      <p:sp>
        <p:nvSpPr>
          <p:cNvPr id="19" name="Shape 8">
            <a:extLst>
              <a:ext uri="{FF2B5EF4-FFF2-40B4-BE49-F238E27FC236}">
                <a16:creationId xmlns:a16="http://schemas.microsoft.com/office/drawing/2014/main" id="{FC4F2AC8-D130-6BFC-B533-73885724A218}"/>
              </a:ext>
            </a:extLst>
          </p:cNvPr>
          <p:cNvSpPr txBox="1">
            <a:spLocks/>
          </p:cNvSpPr>
          <p:nvPr userDrawn="1"/>
        </p:nvSpPr>
        <p:spPr>
          <a:xfrm>
            <a:off x="10946607" y="6266998"/>
            <a:ext cx="242487" cy="149412"/>
          </a:xfrm>
          <a:prstGeom prst="rect">
            <a:avLst/>
          </a:prstGeom>
        </p:spPr>
        <p:txBody>
          <a:bodyPr lIns="0" tIns="0" rIns="0" bIns="0" anchor="b" anchorCtr="0"/>
          <a:lstStyle>
            <a:defPPr>
              <a:defRPr lang="en-US"/>
            </a:defPPr>
            <a:lvl1pPr marL="0" algn="l" defTabSz="457200" rtl="0" eaLnBrk="1" latinLnBrk="0" hangingPunct="1">
              <a:defRPr sz="1000" kern="1200">
                <a:solidFill>
                  <a:srgbClr val="0061A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86CB4B4D-7CA3-9044-876B-883B54F8677D}" type="slidenum">
              <a:rPr lang="en-GB" sz="1000" smtClean="0">
                <a:solidFill>
                  <a:schemeClr val="accent2"/>
                </a:solidFill>
                <a:latin typeface="+mn-lt"/>
                <a:ea typeface="Arial"/>
                <a:cs typeface="Arial" panose="020B0604020202020204" pitchFamily="34" charset="0"/>
              </a:rPr>
              <a:pPr algn="r"/>
              <a:t>‹#›</a:t>
            </a:fld>
            <a:endParaRPr lang="en-GB" sz="1000" dirty="0">
              <a:solidFill>
                <a:schemeClr val="accent2"/>
              </a:solidFill>
              <a:latin typeface="+mn-lt"/>
              <a:ea typeface="Arial"/>
              <a:cs typeface="Arial" panose="020B0604020202020204" pitchFamily="34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B7E2415-4CE2-B55D-7CD5-1B6DA1553620}"/>
              </a:ext>
            </a:extLst>
          </p:cNvPr>
          <p:cNvSpPr txBox="1"/>
          <p:nvPr userDrawn="1"/>
        </p:nvSpPr>
        <p:spPr>
          <a:xfrm>
            <a:off x="10234613" y="287504"/>
            <a:ext cx="1631157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buNone/>
            </a:pPr>
            <a:r>
              <a:rPr lang="sv-SE" sz="1050" b="1" i="0" dirty="0">
                <a:solidFill>
                  <a:srgbClr val="00338D"/>
                </a:solidFill>
                <a:effectLst/>
                <a:latin typeface="+mn-lt"/>
              </a:rPr>
              <a:t>2026 Audit</a:t>
            </a:r>
            <a:br>
              <a:rPr lang="sv-SE" sz="1050" b="1" i="0" dirty="0">
                <a:solidFill>
                  <a:srgbClr val="00338D"/>
                </a:solidFill>
                <a:effectLst/>
                <a:latin typeface="+mn-lt"/>
              </a:rPr>
            </a:br>
            <a:r>
              <a:rPr lang="sv-SE" sz="1050" b="1" i="0" dirty="0">
                <a:solidFill>
                  <a:srgbClr val="76D2FF"/>
                </a:solidFill>
                <a:effectLst/>
                <a:latin typeface="+mn-lt"/>
              </a:rPr>
              <a:t>Innovation Hackathon</a:t>
            </a:r>
            <a:endParaRPr lang="sv-SE" sz="1050" b="1" i="0" dirty="0">
              <a:solidFill>
                <a:srgbClr val="FFFFFF"/>
              </a:solidFill>
              <a:effectLst/>
              <a:latin typeface="+mn-lt"/>
            </a:endParaRPr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FF0D3186-9FEE-AB31-9949-A353BAF8F65D}"/>
              </a:ext>
            </a:extLst>
          </p:cNvPr>
          <p:cNvCxnSpPr/>
          <p:nvPr userDrawn="1"/>
        </p:nvCxnSpPr>
        <p:spPr>
          <a:xfrm>
            <a:off x="10136038" y="680638"/>
            <a:ext cx="1696393" cy="0"/>
          </a:xfrm>
          <a:prstGeom prst="line">
            <a:avLst/>
          </a:prstGeom>
          <a:ln w="12700">
            <a:solidFill>
              <a:schemeClr val="accent4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359759CE-7D32-0375-A70B-A739C2EEFFF8}"/>
              </a:ext>
            </a:extLst>
          </p:cNvPr>
          <p:cNvSpPr txBox="1"/>
          <p:nvPr userDrawn="1"/>
        </p:nvSpPr>
        <p:spPr>
          <a:xfrm>
            <a:off x="10608470" y="666103"/>
            <a:ext cx="12573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buNone/>
            </a:pPr>
            <a:r>
              <a:rPr lang="en-GB" sz="700" b="1" i="0" dirty="0">
                <a:solidFill>
                  <a:srgbClr val="00338D"/>
                </a:solidFill>
                <a:effectLst/>
                <a:latin typeface="+mn-lt"/>
              </a:rPr>
              <a:t>Emphasizing</a:t>
            </a:r>
            <a:br>
              <a:rPr lang="en-GB" sz="700" b="1" i="0" dirty="0">
                <a:solidFill>
                  <a:srgbClr val="00338D"/>
                </a:solidFill>
                <a:effectLst/>
                <a:latin typeface="+mn-lt"/>
              </a:rPr>
            </a:br>
            <a:r>
              <a:rPr lang="en-GB" sz="700" b="1" i="0" dirty="0">
                <a:solidFill>
                  <a:srgbClr val="76D2FF"/>
                </a:solidFill>
                <a:effectLst/>
                <a:latin typeface="+mn-lt"/>
              </a:rPr>
              <a:t>Prototyping &amp; Innovation</a:t>
            </a:r>
            <a:endParaRPr lang="en-GB" sz="700" b="1" i="0" dirty="0">
              <a:solidFill>
                <a:srgbClr val="0C233C"/>
              </a:solidFill>
              <a:effectLst/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143345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0003FEF5-2531-D4AE-EF56-654B27F0442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1"/>
            <a:ext cx="12192000" cy="6857999"/>
          </a:xfrm>
          <a:prstGeom prst="rect">
            <a:avLst/>
          </a:prstGeom>
        </p:spPr>
      </p:pic>
      <p:sp>
        <p:nvSpPr>
          <p:cNvPr id="5" name="标题 1">
            <a:extLst>
              <a:ext uri="{FF2B5EF4-FFF2-40B4-BE49-F238E27FC236}">
                <a16:creationId xmlns:a16="http://schemas.microsoft.com/office/drawing/2014/main" id="{5EC206B4-0DDD-342F-4D84-256BDC0F0F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8400" y="431800"/>
            <a:ext cx="10195200" cy="5334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en-GB" dirty="0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D925131E-81CF-FC80-48C0-80BA5642B950}"/>
              </a:ext>
            </a:extLst>
          </p:cNvPr>
          <p:cNvGrpSpPr/>
          <p:nvPr userDrawn="1"/>
        </p:nvGrpSpPr>
        <p:grpSpPr>
          <a:xfrm>
            <a:off x="10337591" y="216356"/>
            <a:ext cx="1794024" cy="706267"/>
            <a:chOff x="10337591" y="216356"/>
            <a:chExt cx="1794024" cy="706267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569C93F3-08E7-9F4F-4ACB-AADAE7474482}"/>
                </a:ext>
              </a:extLst>
            </p:cNvPr>
            <p:cNvSpPr txBox="1"/>
            <p:nvPr userDrawn="1"/>
          </p:nvSpPr>
          <p:spPr>
            <a:xfrm>
              <a:off x="10500458" y="216356"/>
              <a:ext cx="1631157" cy="43088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r">
                <a:buNone/>
              </a:pPr>
              <a:r>
                <a:rPr lang="sv-SE" sz="1050" b="1" i="0" dirty="0">
                  <a:solidFill>
                    <a:schemeClr val="bg1"/>
                  </a:solidFill>
                  <a:effectLst/>
                  <a:latin typeface="+mn-lt"/>
                </a:rPr>
                <a:t>2026 Audit</a:t>
              </a:r>
              <a:br>
                <a:rPr lang="sv-SE" sz="1050" b="1" i="0" dirty="0">
                  <a:solidFill>
                    <a:srgbClr val="00338D"/>
                  </a:solidFill>
                  <a:effectLst/>
                  <a:latin typeface="+mn-lt"/>
                </a:rPr>
              </a:br>
              <a:r>
                <a:rPr lang="sv-SE" sz="1050" b="1" i="0" dirty="0">
                  <a:solidFill>
                    <a:srgbClr val="76D2FF"/>
                  </a:solidFill>
                  <a:effectLst/>
                  <a:latin typeface="+mn-lt"/>
                </a:rPr>
                <a:t>Innovation Hackathon</a:t>
              </a:r>
              <a:endParaRPr lang="sv-SE" sz="1050" b="1" i="0" dirty="0">
                <a:solidFill>
                  <a:srgbClr val="FFFFFF"/>
                </a:solidFill>
                <a:effectLst/>
                <a:latin typeface="+mn-lt"/>
              </a:endParaRPr>
            </a:p>
          </p:txBody>
        </p: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0BEB1BCE-5AF3-3607-855F-6309C6CB49D8}"/>
                </a:ext>
              </a:extLst>
            </p:cNvPr>
            <p:cNvCxnSpPr/>
            <p:nvPr userDrawn="1"/>
          </p:nvCxnSpPr>
          <p:spPr>
            <a:xfrm>
              <a:off x="10337591" y="629381"/>
              <a:ext cx="1696393" cy="0"/>
            </a:xfrm>
            <a:prstGeom prst="line">
              <a:avLst/>
            </a:prstGeom>
            <a:ln w="12700">
              <a:solidFill>
                <a:schemeClr val="accent4">
                  <a:lumMod val="20000"/>
                  <a:lumOff val="8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58F0B4F4-F8AB-F138-61C0-A79869741FCF}"/>
                </a:ext>
              </a:extLst>
            </p:cNvPr>
            <p:cNvSpPr txBox="1"/>
            <p:nvPr userDrawn="1"/>
          </p:nvSpPr>
          <p:spPr>
            <a:xfrm>
              <a:off x="10874315" y="614846"/>
              <a:ext cx="1257300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r">
                <a:buNone/>
              </a:pPr>
              <a:r>
                <a:rPr lang="en-GB" sz="700" b="1" i="0" dirty="0">
                  <a:solidFill>
                    <a:schemeClr val="bg1"/>
                  </a:solidFill>
                  <a:effectLst/>
                  <a:latin typeface="+mn-lt"/>
                </a:rPr>
                <a:t>Emphasizing</a:t>
              </a:r>
              <a:br>
                <a:rPr lang="en-GB" sz="700" b="1" i="0" dirty="0">
                  <a:solidFill>
                    <a:schemeClr val="bg1"/>
                  </a:solidFill>
                  <a:effectLst/>
                  <a:latin typeface="+mn-lt"/>
                </a:rPr>
              </a:br>
              <a:r>
                <a:rPr lang="en-GB" sz="700" b="1" i="0" dirty="0">
                  <a:solidFill>
                    <a:srgbClr val="76D2FF"/>
                  </a:solidFill>
                  <a:effectLst/>
                  <a:latin typeface="+mn-lt"/>
                </a:rPr>
                <a:t>Prototyping &amp; Innovation</a:t>
              </a:r>
              <a:endParaRPr lang="en-GB" sz="700" b="1" i="0" dirty="0">
                <a:solidFill>
                  <a:srgbClr val="0C233C"/>
                </a:solidFill>
                <a:effectLst/>
                <a:latin typeface="+mn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1471604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Picture 22">
            <a:extLst>
              <a:ext uri="{FF2B5EF4-FFF2-40B4-BE49-F238E27FC236}">
                <a16:creationId xmlns:a16="http://schemas.microsoft.com/office/drawing/2014/main" id="{91B13B09-D26B-D49B-5E27-F30CB9D08A50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41265" b="18766"/>
          <a:stretch/>
        </p:blipFill>
        <p:spPr>
          <a:xfrm>
            <a:off x="0" y="-13743"/>
            <a:ext cx="12204701" cy="1535326"/>
          </a:xfrm>
          <a:prstGeom prst="rect">
            <a:avLst/>
          </a:prstGeom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6A54B08A-F1D3-D247-76D4-0DC8CD8BEA41}"/>
              </a:ext>
            </a:extLst>
          </p:cNvPr>
          <p:cNvSpPr/>
          <p:nvPr userDrawn="1"/>
        </p:nvSpPr>
        <p:spPr>
          <a:xfrm>
            <a:off x="8902463" y="0"/>
            <a:ext cx="3283189" cy="1521583"/>
          </a:xfrm>
          <a:prstGeom prst="rect">
            <a:avLst/>
          </a:prstGeom>
          <a:gradFill>
            <a:gsLst>
              <a:gs pos="4000">
                <a:srgbClr val="050382">
                  <a:alpha val="0"/>
                </a:srgbClr>
              </a:gs>
              <a:gs pos="100000">
                <a:srgbClr val="050283">
                  <a:alpha val="73000"/>
                </a:srgbClr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0" tIns="54610" rIns="54610" bIns="54610" rtlCol="0" anchor="ctr"/>
          <a:lstStyle/>
          <a:p>
            <a:pPr algn="l"/>
            <a:endParaRPr lang="en-GB" sz="1500" dirty="0" err="1">
              <a:solidFill>
                <a:schemeClr val="bg1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425DED1-2A60-050C-6F80-EAA5A568BBCB}"/>
              </a:ext>
            </a:extLst>
          </p:cNvPr>
          <p:cNvSpPr/>
          <p:nvPr userDrawn="1"/>
        </p:nvSpPr>
        <p:spPr>
          <a:xfrm>
            <a:off x="-6350" y="1535326"/>
            <a:ext cx="12198350" cy="5322674"/>
          </a:xfrm>
          <a:prstGeom prst="rect">
            <a:avLst/>
          </a:prstGeom>
          <a:gradFill>
            <a:gsLst>
              <a:gs pos="46000">
                <a:srgbClr val="1E49E2">
                  <a:lumMod val="20000"/>
                  <a:lumOff val="80000"/>
                </a:srgbClr>
              </a:gs>
              <a:gs pos="100000">
                <a:srgbClr val="EAEEFC"/>
              </a:gs>
            </a:gsLst>
            <a:lin ang="2700000" scaled="1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sp>
        <p:nvSpPr>
          <p:cNvPr id="7" name="Rectangle: Top Corners Rounded 6">
            <a:extLst>
              <a:ext uri="{FF2B5EF4-FFF2-40B4-BE49-F238E27FC236}">
                <a16:creationId xmlns:a16="http://schemas.microsoft.com/office/drawing/2014/main" id="{DA6CF969-7841-8C4A-22D1-7B6BA8C66596}"/>
              </a:ext>
            </a:extLst>
          </p:cNvPr>
          <p:cNvSpPr/>
          <p:nvPr userDrawn="1"/>
        </p:nvSpPr>
        <p:spPr>
          <a:xfrm rot="5400000">
            <a:off x="3692407" y="-1641355"/>
            <a:ext cx="4794488" cy="10858502"/>
          </a:xfrm>
          <a:prstGeom prst="round2SameRect">
            <a:avLst>
              <a:gd name="adj1" fmla="val 4178"/>
              <a:gd name="adj2" fmla="val 4114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lIns="48166" tIns="48166" rIns="48166" bIns="48166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23" b="0" i="0" u="none" strike="noStrike" kern="0" cap="none" spc="0" normalizeH="0" baseline="0" noProof="0" dirty="0" err="1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965A1586-D0B0-4013-69FE-E672D640C250}"/>
              </a:ext>
            </a:extLst>
          </p:cNvPr>
          <p:cNvSpPr txBox="1">
            <a:spLocks/>
          </p:cNvSpPr>
          <p:nvPr userDrawn="1"/>
        </p:nvSpPr>
        <p:spPr>
          <a:xfrm>
            <a:off x="923925" y="2140916"/>
            <a:ext cx="7588250" cy="3473737"/>
          </a:xfrm>
          <a:prstGeom prst="rect">
            <a:avLst/>
          </a:prstGeom>
        </p:spPr>
        <p:txBody>
          <a:bodyPr vert="horz" lIns="0" tIns="0" rIns="0" bIns="0" numCol="2" rtlCol="0">
            <a:normAutofit/>
          </a:bodyPr>
          <a:lstStyle>
            <a:lvl1pPr marL="342900" indent="-3429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+mj-lt"/>
              <a:buAutoNum type="arabicPeriod"/>
              <a:defRPr sz="1800" b="1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800100" indent="-3429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+mj-ea"/>
              <a:buAutoNum type="circleNumDbPlain"/>
              <a:defRPr sz="1600" b="1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257300" indent="-3429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+mj-lt"/>
              <a:buAutoNum type="alphaLcParenR"/>
              <a:defRPr sz="1400" b="1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b="1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b="1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Click to add text</a:t>
            </a:r>
            <a:endParaRPr kumimoji="0" lang="en-US" sz="1800" b="1" i="0" u="none" strike="noStrike" kern="1200" cap="none" spc="0" normalizeH="0" baseline="0" noProof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  <a:p>
            <a:pPr marL="800100" marR="0" lvl="1" indent="-342900" algn="l" defTabSz="914400" rtl="0" eaLnBrk="1" fontAlgn="auto" latinLnBrk="0" hangingPunct="1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+mj-ea"/>
              <a:buAutoNum type="circleNumDbPlain"/>
              <a:tabLst/>
              <a:defRPr/>
            </a:pPr>
            <a:r>
              <a:rPr kumimoji="0" lang="zh-CN" altLang="en-US" sz="1600" b="1" i="0" u="none" strike="noStrike" kern="1200" cap="none" spc="0" normalizeH="0" baseline="0" noProof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Second level</a:t>
            </a:r>
            <a:endParaRPr kumimoji="0" lang="en-US" sz="1600" b="1" i="0" u="none" strike="noStrike" kern="1200" cap="none" spc="0" normalizeH="0" baseline="0" noProof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  <a:p>
            <a:pPr marL="1257300" marR="0" lvl="2" indent="-342900" algn="l" defTabSz="914400" rtl="0" eaLnBrk="1" fontAlgn="auto" latinLnBrk="0" hangingPunct="1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+mj-lt"/>
              <a:buAutoNum type="alphaLcParenR"/>
              <a:tabLst/>
              <a:defRPr/>
            </a:pPr>
            <a:r>
              <a:rPr kumimoji="0" lang="zh-CN" altLang="en-US" sz="1400" b="1" i="0" u="none" strike="noStrike" kern="1200" cap="none" spc="0" normalizeH="0" baseline="0" noProof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Third level</a:t>
            </a:r>
            <a:endParaRPr kumimoji="0" lang="en-US" sz="1400" b="1" i="0" u="none" strike="noStrike" kern="1200" cap="none" spc="0" normalizeH="0" baseline="0" noProof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  <a:p>
            <a:pPr marL="1600200" marR="0" lvl="3" indent="-228600" algn="l" defTabSz="914400" rtl="0" eaLnBrk="1" fontAlgn="auto" latinLnBrk="0" hangingPunct="1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zh-CN" altLang="en-US" sz="1200" b="1" i="0" u="none" strike="noStrike" kern="1200" cap="none" spc="0" normalizeH="0" baseline="0" noProof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Fourth level</a:t>
            </a:r>
            <a:endParaRPr kumimoji="0" lang="en-US" sz="1200" b="1" i="0" u="none" strike="noStrike" kern="1200" cap="none" spc="0" normalizeH="0" baseline="0" noProof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  <a:p>
            <a:pPr marL="2057400" marR="0" lvl="4" indent="-228600" algn="l" defTabSz="914400" rtl="0" eaLnBrk="1" fontAlgn="auto" latinLnBrk="0" hangingPunct="1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zh-CN" altLang="en-US" sz="1200" b="1" i="0" u="none" strike="noStrike" kern="1200" cap="none" spc="0" normalizeH="0" baseline="0" noProof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Fifth level</a:t>
            </a:r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sp>
        <p:nvSpPr>
          <p:cNvPr id="2" name="Shape 8">
            <a:extLst>
              <a:ext uri="{FF2B5EF4-FFF2-40B4-BE49-F238E27FC236}">
                <a16:creationId xmlns:a16="http://schemas.microsoft.com/office/drawing/2014/main" id="{F73953BD-94FA-CF41-C4F6-380B2090E3DA}"/>
              </a:ext>
            </a:extLst>
          </p:cNvPr>
          <p:cNvSpPr txBox="1">
            <a:spLocks/>
          </p:cNvSpPr>
          <p:nvPr userDrawn="1"/>
        </p:nvSpPr>
        <p:spPr>
          <a:xfrm>
            <a:off x="10946607" y="6266998"/>
            <a:ext cx="242487" cy="149412"/>
          </a:xfrm>
          <a:prstGeom prst="rect">
            <a:avLst/>
          </a:prstGeom>
        </p:spPr>
        <p:txBody>
          <a:bodyPr lIns="0" tIns="0" rIns="0" bIns="0" anchor="b" anchorCtr="0"/>
          <a:lstStyle>
            <a:defPPr>
              <a:defRPr lang="en-US"/>
            </a:defPPr>
            <a:lvl1pPr marL="0" algn="l" defTabSz="457200" rtl="0" eaLnBrk="1" latinLnBrk="0" hangingPunct="1">
              <a:defRPr sz="1000" kern="1200">
                <a:solidFill>
                  <a:srgbClr val="0061A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86CB4B4D-7CA3-9044-876B-883B54F8677D}" type="slidenum">
              <a:rPr lang="en-GB" sz="1000" smtClean="0">
                <a:solidFill>
                  <a:schemeClr val="accent2"/>
                </a:solidFill>
                <a:latin typeface="+mn-lt"/>
                <a:ea typeface="Arial"/>
                <a:cs typeface="Arial" panose="020B0604020202020204" pitchFamily="34" charset="0"/>
              </a:rPr>
              <a:pPr algn="r"/>
              <a:t>‹#›</a:t>
            </a:fld>
            <a:endParaRPr lang="en-GB" sz="1000" dirty="0">
              <a:solidFill>
                <a:schemeClr val="accent2"/>
              </a:solidFill>
              <a:latin typeface="+mn-lt"/>
              <a:ea typeface="Arial"/>
              <a:cs typeface="Arial" panose="020B0604020202020204" pitchFamily="34" charset="0"/>
            </a:endParaRPr>
          </a:p>
        </p:txBody>
      </p:sp>
      <p:sp>
        <p:nvSpPr>
          <p:cNvPr id="3" name="Freeform 19">
            <a:extLst>
              <a:ext uri="{FF2B5EF4-FFF2-40B4-BE49-F238E27FC236}">
                <a16:creationId xmlns:a16="http://schemas.microsoft.com/office/drawing/2014/main" id="{23340733-47FE-5024-683A-0E00A4EC5C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EditPoints="1"/>
          </p:cNvSpPr>
          <p:nvPr userDrawn="1"/>
        </p:nvSpPr>
        <p:spPr bwMode="auto">
          <a:xfrm>
            <a:off x="1003202" y="6266998"/>
            <a:ext cx="484029" cy="196893"/>
          </a:xfrm>
          <a:custGeom>
            <a:avLst/>
            <a:gdLst>
              <a:gd name="T0" fmla="*/ 269 w 283"/>
              <a:gd name="T1" fmla="*/ 77 h 114"/>
              <a:gd name="T2" fmla="*/ 222 w 283"/>
              <a:gd name="T3" fmla="*/ 87 h 114"/>
              <a:gd name="T4" fmla="*/ 244 w 283"/>
              <a:gd name="T5" fmla="*/ 60 h 114"/>
              <a:gd name="T6" fmla="*/ 269 w 283"/>
              <a:gd name="T7" fmla="*/ 56 h 114"/>
              <a:gd name="T8" fmla="*/ 222 w 283"/>
              <a:gd name="T9" fmla="*/ 2 h 114"/>
              <a:gd name="T10" fmla="*/ 281 w 283"/>
              <a:gd name="T11" fmla="*/ 87 h 114"/>
              <a:gd name="T12" fmla="*/ 222 w 283"/>
              <a:gd name="T13" fmla="*/ 89 h 114"/>
              <a:gd name="T14" fmla="*/ 246 w 283"/>
              <a:gd name="T15" fmla="*/ 101 h 114"/>
              <a:gd name="T16" fmla="*/ 205 w 283"/>
              <a:gd name="T17" fmla="*/ 82 h 114"/>
              <a:gd name="T18" fmla="*/ 203 w 283"/>
              <a:gd name="T19" fmla="*/ 52 h 114"/>
              <a:gd name="T20" fmla="*/ 154 w 283"/>
              <a:gd name="T21" fmla="*/ 87 h 114"/>
              <a:gd name="T22" fmla="*/ 213 w 283"/>
              <a:gd name="T23" fmla="*/ 53 h 114"/>
              <a:gd name="T24" fmla="*/ 171 w 283"/>
              <a:gd name="T25" fmla="*/ 87 h 114"/>
              <a:gd name="T26" fmla="*/ 180 w 283"/>
              <a:gd name="T27" fmla="*/ 87 h 114"/>
              <a:gd name="T28" fmla="*/ 120 w 283"/>
              <a:gd name="T29" fmla="*/ 87 h 114"/>
              <a:gd name="T30" fmla="*/ 117 w 283"/>
              <a:gd name="T31" fmla="*/ 56 h 114"/>
              <a:gd name="T32" fmla="*/ 86 w 283"/>
              <a:gd name="T33" fmla="*/ 2 h 114"/>
              <a:gd name="T34" fmla="*/ 145 w 283"/>
              <a:gd name="T35" fmla="*/ 52 h 114"/>
              <a:gd name="T36" fmla="*/ 142 w 283"/>
              <a:gd name="T37" fmla="*/ 87 h 114"/>
              <a:gd name="T38" fmla="*/ 93 w 283"/>
              <a:gd name="T39" fmla="*/ 79 h 114"/>
              <a:gd name="T40" fmla="*/ 89 w 283"/>
              <a:gd name="T41" fmla="*/ 79 h 114"/>
              <a:gd name="T42" fmla="*/ 87 w 283"/>
              <a:gd name="T43" fmla="*/ 69 h 114"/>
              <a:gd name="T44" fmla="*/ 95 w 283"/>
              <a:gd name="T45" fmla="*/ 62 h 114"/>
              <a:gd name="T46" fmla="*/ 93 w 283"/>
              <a:gd name="T47" fmla="*/ 79 h 114"/>
              <a:gd name="T48" fmla="*/ 67 w 283"/>
              <a:gd name="T49" fmla="*/ 86 h 114"/>
              <a:gd name="T50" fmla="*/ 37 w 283"/>
              <a:gd name="T51" fmla="*/ 82 h 114"/>
              <a:gd name="T52" fmla="*/ 25 w 283"/>
              <a:gd name="T53" fmla="*/ 77 h 114"/>
              <a:gd name="T54" fmla="*/ 18 w 283"/>
              <a:gd name="T55" fmla="*/ 2 h 114"/>
              <a:gd name="T56" fmla="*/ 76 w 283"/>
              <a:gd name="T57" fmla="*/ 55 h 114"/>
              <a:gd name="T58" fmla="*/ 22 w 283"/>
              <a:gd name="T59" fmla="*/ 87 h 114"/>
              <a:gd name="T60" fmla="*/ 220 w 283"/>
              <a:gd name="T61" fmla="*/ 0 h 114"/>
              <a:gd name="T62" fmla="*/ 215 w 283"/>
              <a:gd name="T63" fmla="*/ 0 h 114"/>
              <a:gd name="T64" fmla="*/ 147 w 283"/>
              <a:gd name="T65" fmla="*/ 52 h 114"/>
              <a:gd name="T66" fmla="*/ 84 w 283"/>
              <a:gd name="T67" fmla="*/ 52 h 114"/>
              <a:gd name="T68" fmla="*/ 16 w 283"/>
              <a:gd name="T69" fmla="*/ 0 h 114"/>
              <a:gd name="T70" fmla="*/ 14 w 283"/>
              <a:gd name="T71" fmla="*/ 113 h 114"/>
              <a:gd name="T72" fmla="*/ 35 w 283"/>
              <a:gd name="T73" fmla="*/ 113 h 114"/>
              <a:gd name="T74" fmla="*/ 66 w 283"/>
              <a:gd name="T75" fmla="*/ 89 h 114"/>
              <a:gd name="T76" fmla="*/ 81 w 283"/>
              <a:gd name="T77" fmla="*/ 89 h 114"/>
              <a:gd name="T78" fmla="*/ 90 w 283"/>
              <a:gd name="T79" fmla="*/ 89 h 114"/>
              <a:gd name="T80" fmla="*/ 112 w 283"/>
              <a:gd name="T81" fmla="*/ 113 h 114"/>
              <a:gd name="T82" fmla="*/ 142 w 283"/>
              <a:gd name="T83" fmla="*/ 89 h 114"/>
              <a:gd name="T84" fmla="*/ 170 w 283"/>
              <a:gd name="T85" fmla="*/ 89 h 114"/>
              <a:gd name="T86" fmla="*/ 190 w 283"/>
              <a:gd name="T87" fmla="*/ 113 h 114"/>
              <a:gd name="T88" fmla="*/ 210 w 283"/>
              <a:gd name="T89" fmla="*/ 108 h 114"/>
              <a:gd name="T90" fmla="*/ 266 w 283"/>
              <a:gd name="T91" fmla="*/ 89 h 114"/>
              <a:gd name="T92" fmla="*/ 220 w 283"/>
              <a:gd name="T93" fmla="*/ 0 h 11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</a:cxnLst>
            <a:rect l="0" t="0" r="r" b="b"/>
            <a:pathLst>
              <a:path w="283" h="114">
                <a:moveTo>
                  <a:pt x="281" y="87"/>
                </a:moveTo>
                <a:cubicBezTo>
                  <a:pt x="266" y="87"/>
                  <a:pt x="266" y="87"/>
                  <a:pt x="266" y="87"/>
                </a:cubicBezTo>
                <a:cubicBezTo>
                  <a:pt x="269" y="77"/>
                  <a:pt x="269" y="77"/>
                  <a:pt x="269" y="77"/>
                </a:cubicBezTo>
                <a:cubicBezTo>
                  <a:pt x="239" y="77"/>
                  <a:pt x="239" y="77"/>
                  <a:pt x="239" y="77"/>
                </a:cubicBezTo>
                <a:cubicBezTo>
                  <a:pt x="237" y="87"/>
                  <a:pt x="237" y="87"/>
                  <a:pt x="237" y="87"/>
                </a:cubicBezTo>
                <a:cubicBezTo>
                  <a:pt x="222" y="87"/>
                  <a:pt x="222" y="87"/>
                  <a:pt x="222" y="87"/>
                </a:cubicBezTo>
                <a:cubicBezTo>
                  <a:pt x="222" y="85"/>
                  <a:pt x="222" y="85"/>
                  <a:pt x="222" y="85"/>
                </a:cubicBezTo>
                <a:cubicBezTo>
                  <a:pt x="223" y="84"/>
                  <a:pt x="223" y="83"/>
                  <a:pt x="223" y="81"/>
                </a:cubicBezTo>
                <a:cubicBezTo>
                  <a:pt x="226" y="71"/>
                  <a:pt x="233" y="60"/>
                  <a:pt x="244" y="60"/>
                </a:cubicBezTo>
                <a:cubicBezTo>
                  <a:pt x="249" y="60"/>
                  <a:pt x="254" y="62"/>
                  <a:pt x="253" y="69"/>
                </a:cubicBezTo>
                <a:cubicBezTo>
                  <a:pt x="271" y="69"/>
                  <a:pt x="271" y="69"/>
                  <a:pt x="271" y="69"/>
                </a:cubicBezTo>
                <a:cubicBezTo>
                  <a:pt x="272" y="66"/>
                  <a:pt x="273" y="61"/>
                  <a:pt x="269" y="56"/>
                </a:cubicBezTo>
                <a:cubicBezTo>
                  <a:pt x="266" y="51"/>
                  <a:pt x="258" y="48"/>
                  <a:pt x="248" y="48"/>
                </a:cubicBezTo>
                <a:cubicBezTo>
                  <a:pt x="241" y="48"/>
                  <a:pt x="231" y="50"/>
                  <a:pt x="222" y="55"/>
                </a:cubicBezTo>
                <a:cubicBezTo>
                  <a:pt x="222" y="2"/>
                  <a:pt x="222" y="2"/>
                  <a:pt x="222" y="2"/>
                </a:cubicBezTo>
                <a:cubicBezTo>
                  <a:pt x="281" y="2"/>
                  <a:pt x="281" y="2"/>
                  <a:pt x="281" y="2"/>
                </a:cubicBezTo>
                <a:cubicBezTo>
                  <a:pt x="281" y="87"/>
                  <a:pt x="281" y="87"/>
                  <a:pt x="281" y="87"/>
                </a:cubicBezTo>
                <a:cubicBezTo>
                  <a:pt x="281" y="87"/>
                  <a:pt x="281" y="87"/>
                  <a:pt x="281" y="87"/>
                </a:cubicBezTo>
                <a:close/>
                <a:moveTo>
                  <a:pt x="246" y="101"/>
                </a:moveTo>
                <a:cubicBezTo>
                  <a:pt x="243" y="102"/>
                  <a:pt x="240" y="102"/>
                  <a:pt x="237" y="102"/>
                </a:cubicBezTo>
                <a:cubicBezTo>
                  <a:pt x="228" y="102"/>
                  <a:pt x="222" y="98"/>
                  <a:pt x="222" y="89"/>
                </a:cubicBezTo>
                <a:cubicBezTo>
                  <a:pt x="249" y="89"/>
                  <a:pt x="249" y="89"/>
                  <a:pt x="249" y="89"/>
                </a:cubicBezTo>
                <a:cubicBezTo>
                  <a:pt x="246" y="101"/>
                  <a:pt x="246" y="101"/>
                  <a:pt x="246" y="101"/>
                </a:cubicBezTo>
                <a:cubicBezTo>
                  <a:pt x="246" y="101"/>
                  <a:pt x="246" y="101"/>
                  <a:pt x="246" y="101"/>
                </a:cubicBezTo>
                <a:close/>
                <a:moveTo>
                  <a:pt x="213" y="53"/>
                </a:moveTo>
                <a:cubicBezTo>
                  <a:pt x="213" y="65"/>
                  <a:pt x="213" y="65"/>
                  <a:pt x="213" y="65"/>
                </a:cubicBezTo>
                <a:cubicBezTo>
                  <a:pt x="209" y="71"/>
                  <a:pt x="206" y="77"/>
                  <a:pt x="205" y="82"/>
                </a:cubicBezTo>
                <a:cubicBezTo>
                  <a:pt x="204" y="83"/>
                  <a:pt x="204" y="85"/>
                  <a:pt x="204" y="87"/>
                </a:cubicBezTo>
                <a:cubicBezTo>
                  <a:pt x="195" y="87"/>
                  <a:pt x="195" y="87"/>
                  <a:pt x="195" y="87"/>
                </a:cubicBezTo>
                <a:cubicBezTo>
                  <a:pt x="203" y="52"/>
                  <a:pt x="203" y="52"/>
                  <a:pt x="203" y="52"/>
                </a:cubicBezTo>
                <a:cubicBezTo>
                  <a:pt x="178" y="52"/>
                  <a:pt x="178" y="52"/>
                  <a:pt x="178" y="52"/>
                </a:cubicBezTo>
                <a:cubicBezTo>
                  <a:pt x="156" y="87"/>
                  <a:pt x="156" y="87"/>
                  <a:pt x="156" y="87"/>
                </a:cubicBezTo>
                <a:cubicBezTo>
                  <a:pt x="154" y="87"/>
                  <a:pt x="154" y="87"/>
                  <a:pt x="154" y="87"/>
                </a:cubicBezTo>
                <a:cubicBezTo>
                  <a:pt x="154" y="2"/>
                  <a:pt x="154" y="2"/>
                  <a:pt x="154" y="2"/>
                </a:cubicBezTo>
                <a:cubicBezTo>
                  <a:pt x="213" y="2"/>
                  <a:pt x="213" y="2"/>
                  <a:pt x="213" y="2"/>
                </a:cubicBezTo>
                <a:cubicBezTo>
                  <a:pt x="213" y="53"/>
                  <a:pt x="213" y="53"/>
                  <a:pt x="213" y="53"/>
                </a:cubicBezTo>
                <a:cubicBezTo>
                  <a:pt x="213" y="53"/>
                  <a:pt x="213" y="53"/>
                  <a:pt x="213" y="53"/>
                </a:cubicBezTo>
                <a:close/>
                <a:moveTo>
                  <a:pt x="180" y="87"/>
                </a:moveTo>
                <a:cubicBezTo>
                  <a:pt x="171" y="87"/>
                  <a:pt x="171" y="87"/>
                  <a:pt x="171" y="87"/>
                </a:cubicBezTo>
                <a:cubicBezTo>
                  <a:pt x="185" y="66"/>
                  <a:pt x="185" y="66"/>
                  <a:pt x="185" y="66"/>
                </a:cubicBezTo>
                <a:cubicBezTo>
                  <a:pt x="180" y="87"/>
                  <a:pt x="180" y="87"/>
                  <a:pt x="180" y="87"/>
                </a:cubicBezTo>
                <a:cubicBezTo>
                  <a:pt x="180" y="87"/>
                  <a:pt x="180" y="87"/>
                  <a:pt x="180" y="87"/>
                </a:cubicBezTo>
                <a:close/>
                <a:moveTo>
                  <a:pt x="145" y="52"/>
                </a:moveTo>
                <a:cubicBezTo>
                  <a:pt x="130" y="52"/>
                  <a:pt x="130" y="52"/>
                  <a:pt x="130" y="52"/>
                </a:cubicBezTo>
                <a:cubicBezTo>
                  <a:pt x="120" y="87"/>
                  <a:pt x="120" y="87"/>
                  <a:pt x="120" y="87"/>
                </a:cubicBezTo>
                <a:cubicBezTo>
                  <a:pt x="104" y="87"/>
                  <a:pt x="104" y="87"/>
                  <a:pt x="104" y="87"/>
                </a:cubicBezTo>
                <a:cubicBezTo>
                  <a:pt x="112" y="84"/>
                  <a:pt x="117" y="78"/>
                  <a:pt x="119" y="70"/>
                </a:cubicBezTo>
                <a:cubicBezTo>
                  <a:pt x="120" y="64"/>
                  <a:pt x="119" y="59"/>
                  <a:pt x="117" y="56"/>
                </a:cubicBezTo>
                <a:cubicBezTo>
                  <a:pt x="113" y="51"/>
                  <a:pt x="105" y="52"/>
                  <a:pt x="98" y="52"/>
                </a:cubicBezTo>
                <a:cubicBezTo>
                  <a:pt x="97" y="52"/>
                  <a:pt x="86" y="52"/>
                  <a:pt x="86" y="52"/>
                </a:cubicBezTo>
                <a:cubicBezTo>
                  <a:pt x="86" y="2"/>
                  <a:pt x="86" y="2"/>
                  <a:pt x="86" y="2"/>
                </a:cubicBezTo>
                <a:cubicBezTo>
                  <a:pt x="145" y="2"/>
                  <a:pt x="145" y="2"/>
                  <a:pt x="145" y="2"/>
                </a:cubicBezTo>
                <a:cubicBezTo>
                  <a:pt x="145" y="52"/>
                  <a:pt x="145" y="52"/>
                  <a:pt x="145" y="52"/>
                </a:cubicBezTo>
                <a:cubicBezTo>
                  <a:pt x="145" y="52"/>
                  <a:pt x="145" y="52"/>
                  <a:pt x="145" y="52"/>
                </a:cubicBezTo>
                <a:close/>
                <a:moveTo>
                  <a:pt x="135" y="87"/>
                </a:moveTo>
                <a:cubicBezTo>
                  <a:pt x="141" y="65"/>
                  <a:pt x="141" y="65"/>
                  <a:pt x="141" y="65"/>
                </a:cubicBezTo>
                <a:cubicBezTo>
                  <a:pt x="142" y="87"/>
                  <a:pt x="142" y="87"/>
                  <a:pt x="142" y="87"/>
                </a:cubicBezTo>
                <a:cubicBezTo>
                  <a:pt x="135" y="87"/>
                  <a:pt x="135" y="87"/>
                  <a:pt x="135" y="87"/>
                </a:cubicBezTo>
                <a:cubicBezTo>
                  <a:pt x="135" y="87"/>
                  <a:pt x="135" y="87"/>
                  <a:pt x="135" y="87"/>
                </a:cubicBezTo>
                <a:close/>
                <a:moveTo>
                  <a:pt x="93" y="79"/>
                </a:moveTo>
                <a:cubicBezTo>
                  <a:pt x="93" y="79"/>
                  <a:pt x="93" y="79"/>
                  <a:pt x="93" y="79"/>
                </a:cubicBezTo>
                <a:cubicBezTo>
                  <a:pt x="92" y="79"/>
                  <a:pt x="91" y="79"/>
                  <a:pt x="91" y="79"/>
                </a:cubicBezTo>
                <a:cubicBezTo>
                  <a:pt x="90" y="79"/>
                  <a:pt x="89" y="79"/>
                  <a:pt x="89" y="79"/>
                </a:cubicBezTo>
                <a:cubicBezTo>
                  <a:pt x="85" y="79"/>
                  <a:pt x="85" y="79"/>
                  <a:pt x="85" y="79"/>
                </a:cubicBezTo>
                <a:cubicBezTo>
                  <a:pt x="87" y="72"/>
                  <a:pt x="87" y="72"/>
                  <a:pt x="87" y="72"/>
                </a:cubicBezTo>
                <a:cubicBezTo>
                  <a:pt x="87" y="69"/>
                  <a:pt x="87" y="69"/>
                  <a:pt x="87" y="69"/>
                </a:cubicBezTo>
                <a:cubicBezTo>
                  <a:pt x="89" y="62"/>
                  <a:pt x="89" y="62"/>
                  <a:pt x="89" y="62"/>
                </a:cubicBezTo>
                <a:cubicBezTo>
                  <a:pt x="90" y="62"/>
                  <a:pt x="91" y="62"/>
                  <a:pt x="92" y="62"/>
                </a:cubicBezTo>
                <a:cubicBezTo>
                  <a:pt x="95" y="62"/>
                  <a:pt x="95" y="62"/>
                  <a:pt x="95" y="62"/>
                </a:cubicBezTo>
                <a:cubicBezTo>
                  <a:pt x="100" y="62"/>
                  <a:pt x="103" y="62"/>
                  <a:pt x="104" y="63"/>
                </a:cubicBezTo>
                <a:cubicBezTo>
                  <a:pt x="105" y="65"/>
                  <a:pt x="105" y="67"/>
                  <a:pt x="104" y="70"/>
                </a:cubicBezTo>
                <a:cubicBezTo>
                  <a:pt x="102" y="75"/>
                  <a:pt x="100" y="78"/>
                  <a:pt x="93" y="79"/>
                </a:cubicBezTo>
                <a:moveTo>
                  <a:pt x="76" y="55"/>
                </a:moveTo>
                <a:cubicBezTo>
                  <a:pt x="75" y="58"/>
                  <a:pt x="75" y="58"/>
                  <a:pt x="75" y="58"/>
                </a:cubicBezTo>
                <a:cubicBezTo>
                  <a:pt x="67" y="86"/>
                  <a:pt x="67" y="86"/>
                  <a:pt x="67" y="86"/>
                </a:cubicBezTo>
                <a:cubicBezTo>
                  <a:pt x="67" y="87"/>
                  <a:pt x="67" y="87"/>
                  <a:pt x="67" y="87"/>
                </a:cubicBezTo>
                <a:cubicBezTo>
                  <a:pt x="39" y="87"/>
                  <a:pt x="39" y="87"/>
                  <a:pt x="39" y="87"/>
                </a:cubicBezTo>
                <a:cubicBezTo>
                  <a:pt x="37" y="82"/>
                  <a:pt x="37" y="82"/>
                  <a:pt x="37" y="82"/>
                </a:cubicBezTo>
                <a:cubicBezTo>
                  <a:pt x="67" y="52"/>
                  <a:pt x="67" y="52"/>
                  <a:pt x="67" y="52"/>
                </a:cubicBezTo>
                <a:cubicBezTo>
                  <a:pt x="48" y="52"/>
                  <a:pt x="48" y="52"/>
                  <a:pt x="48" y="52"/>
                </a:cubicBezTo>
                <a:cubicBezTo>
                  <a:pt x="25" y="77"/>
                  <a:pt x="25" y="77"/>
                  <a:pt x="25" y="77"/>
                </a:cubicBezTo>
                <a:cubicBezTo>
                  <a:pt x="32" y="52"/>
                  <a:pt x="32" y="52"/>
                  <a:pt x="32" y="52"/>
                </a:cubicBezTo>
                <a:cubicBezTo>
                  <a:pt x="18" y="52"/>
                  <a:pt x="18" y="52"/>
                  <a:pt x="18" y="52"/>
                </a:cubicBezTo>
                <a:cubicBezTo>
                  <a:pt x="18" y="2"/>
                  <a:pt x="18" y="2"/>
                  <a:pt x="18" y="2"/>
                </a:cubicBezTo>
                <a:cubicBezTo>
                  <a:pt x="76" y="2"/>
                  <a:pt x="76" y="2"/>
                  <a:pt x="76" y="2"/>
                </a:cubicBezTo>
                <a:cubicBezTo>
                  <a:pt x="76" y="55"/>
                  <a:pt x="76" y="55"/>
                  <a:pt x="76" y="55"/>
                </a:cubicBezTo>
                <a:cubicBezTo>
                  <a:pt x="76" y="55"/>
                  <a:pt x="76" y="55"/>
                  <a:pt x="76" y="55"/>
                </a:cubicBezTo>
                <a:close/>
                <a:moveTo>
                  <a:pt x="22" y="87"/>
                </a:moveTo>
                <a:cubicBezTo>
                  <a:pt x="22" y="87"/>
                  <a:pt x="22" y="87"/>
                  <a:pt x="22" y="87"/>
                </a:cubicBezTo>
                <a:cubicBezTo>
                  <a:pt x="22" y="87"/>
                  <a:pt x="22" y="87"/>
                  <a:pt x="22" y="87"/>
                </a:cubicBezTo>
                <a:cubicBezTo>
                  <a:pt x="22" y="87"/>
                  <a:pt x="22" y="87"/>
                  <a:pt x="22" y="87"/>
                </a:cubicBezTo>
                <a:cubicBezTo>
                  <a:pt x="22" y="87"/>
                  <a:pt x="22" y="87"/>
                  <a:pt x="22" y="87"/>
                </a:cubicBezTo>
                <a:close/>
                <a:moveTo>
                  <a:pt x="220" y="0"/>
                </a:moveTo>
                <a:cubicBezTo>
                  <a:pt x="220" y="57"/>
                  <a:pt x="220" y="57"/>
                  <a:pt x="220" y="57"/>
                </a:cubicBezTo>
                <a:cubicBezTo>
                  <a:pt x="218" y="59"/>
                  <a:pt x="216" y="60"/>
                  <a:pt x="215" y="62"/>
                </a:cubicBezTo>
                <a:cubicBezTo>
                  <a:pt x="215" y="0"/>
                  <a:pt x="215" y="0"/>
                  <a:pt x="215" y="0"/>
                </a:cubicBezTo>
                <a:cubicBezTo>
                  <a:pt x="152" y="0"/>
                  <a:pt x="152" y="0"/>
                  <a:pt x="152" y="0"/>
                </a:cubicBezTo>
                <a:cubicBezTo>
                  <a:pt x="152" y="52"/>
                  <a:pt x="152" y="52"/>
                  <a:pt x="152" y="52"/>
                </a:cubicBezTo>
                <a:cubicBezTo>
                  <a:pt x="147" y="52"/>
                  <a:pt x="147" y="52"/>
                  <a:pt x="147" y="52"/>
                </a:cubicBezTo>
                <a:cubicBezTo>
                  <a:pt x="147" y="0"/>
                  <a:pt x="147" y="0"/>
                  <a:pt x="147" y="0"/>
                </a:cubicBezTo>
                <a:cubicBezTo>
                  <a:pt x="84" y="0"/>
                  <a:pt x="84" y="0"/>
                  <a:pt x="84" y="0"/>
                </a:cubicBezTo>
                <a:cubicBezTo>
                  <a:pt x="84" y="52"/>
                  <a:pt x="84" y="52"/>
                  <a:pt x="84" y="52"/>
                </a:cubicBezTo>
                <a:cubicBezTo>
                  <a:pt x="79" y="52"/>
                  <a:pt x="79" y="52"/>
                  <a:pt x="79" y="52"/>
                </a:cubicBezTo>
                <a:cubicBezTo>
                  <a:pt x="79" y="0"/>
                  <a:pt x="79" y="0"/>
                  <a:pt x="79" y="0"/>
                </a:cubicBezTo>
                <a:cubicBezTo>
                  <a:pt x="16" y="0"/>
                  <a:pt x="16" y="0"/>
                  <a:pt x="16" y="0"/>
                </a:cubicBezTo>
                <a:cubicBezTo>
                  <a:pt x="16" y="59"/>
                  <a:pt x="16" y="59"/>
                  <a:pt x="16" y="59"/>
                </a:cubicBezTo>
                <a:cubicBezTo>
                  <a:pt x="0" y="113"/>
                  <a:pt x="0" y="113"/>
                  <a:pt x="0" y="113"/>
                </a:cubicBezTo>
                <a:cubicBezTo>
                  <a:pt x="14" y="113"/>
                  <a:pt x="14" y="113"/>
                  <a:pt x="14" y="113"/>
                </a:cubicBezTo>
                <a:cubicBezTo>
                  <a:pt x="21" y="89"/>
                  <a:pt x="21" y="89"/>
                  <a:pt x="21" y="89"/>
                </a:cubicBezTo>
                <a:cubicBezTo>
                  <a:pt x="23" y="89"/>
                  <a:pt x="23" y="89"/>
                  <a:pt x="23" y="89"/>
                </a:cubicBezTo>
                <a:cubicBezTo>
                  <a:pt x="35" y="113"/>
                  <a:pt x="35" y="113"/>
                  <a:pt x="35" y="113"/>
                </a:cubicBezTo>
                <a:cubicBezTo>
                  <a:pt x="52" y="113"/>
                  <a:pt x="52" y="113"/>
                  <a:pt x="52" y="113"/>
                </a:cubicBezTo>
                <a:cubicBezTo>
                  <a:pt x="40" y="89"/>
                  <a:pt x="40" y="89"/>
                  <a:pt x="40" y="89"/>
                </a:cubicBezTo>
                <a:cubicBezTo>
                  <a:pt x="66" y="89"/>
                  <a:pt x="66" y="89"/>
                  <a:pt x="66" y="89"/>
                </a:cubicBezTo>
                <a:cubicBezTo>
                  <a:pt x="59" y="113"/>
                  <a:pt x="59" y="113"/>
                  <a:pt x="59" y="113"/>
                </a:cubicBezTo>
                <a:cubicBezTo>
                  <a:pt x="74" y="113"/>
                  <a:pt x="74" y="113"/>
                  <a:pt x="74" y="113"/>
                </a:cubicBezTo>
                <a:cubicBezTo>
                  <a:pt x="81" y="89"/>
                  <a:pt x="81" y="89"/>
                  <a:pt x="81" y="89"/>
                </a:cubicBezTo>
                <a:cubicBezTo>
                  <a:pt x="85" y="89"/>
                  <a:pt x="85" y="89"/>
                  <a:pt x="85" y="89"/>
                </a:cubicBezTo>
                <a:cubicBezTo>
                  <a:pt x="85" y="89"/>
                  <a:pt x="85" y="89"/>
                  <a:pt x="85" y="89"/>
                </a:cubicBezTo>
                <a:cubicBezTo>
                  <a:pt x="90" y="89"/>
                  <a:pt x="90" y="89"/>
                  <a:pt x="90" y="89"/>
                </a:cubicBezTo>
                <a:cubicBezTo>
                  <a:pt x="90" y="89"/>
                  <a:pt x="90" y="89"/>
                  <a:pt x="90" y="89"/>
                </a:cubicBezTo>
                <a:cubicBezTo>
                  <a:pt x="119" y="89"/>
                  <a:pt x="119" y="89"/>
                  <a:pt x="119" y="89"/>
                </a:cubicBezTo>
                <a:cubicBezTo>
                  <a:pt x="112" y="113"/>
                  <a:pt x="112" y="113"/>
                  <a:pt x="112" y="113"/>
                </a:cubicBezTo>
                <a:cubicBezTo>
                  <a:pt x="128" y="113"/>
                  <a:pt x="128" y="113"/>
                  <a:pt x="128" y="113"/>
                </a:cubicBezTo>
                <a:cubicBezTo>
                  <a:pt x="135" y="89"/>
                  <a:pt x="135" y="89"/>
                  <a:pt x="135" y="89"/>
                </a:cubicBezTo>
                <a:cubicBezTo>
                  <a:pt x="142" y="89"/>
                  <a:pt x="142" y="89"/>
                  <a:pt x="142" y="89"/>
                </a:cubicBezTo>
                <a:cubicBezTo>
                  <a:pt x="142" y="113"/>
                  <a:pt x="142" y="113"/>
                  <a:pt x="142" y="113"/>
                </a:cubicBezTo>
                <a:cubicBezTo>
                  <a:pt x="155" y="113"/>
                  <a:pt x="155" y="113"/>
                  <a:pt x="155" y="113"/>
                </a:cubicBezTo>
                <a:cubicBezTo>
                  <a:pt x="170" y="89"/>
                  <a:pt x="170" y="89"/>
                  <a:pt x="170" y="89"/>
                </a:cubicBezTo>
                <a:cubicBezTo>
                  <a:pt x="180" y="89"/>
                  <a:pt x="180" y="89"/>
                  <a:pt x="180" y="89"/>
                </a:cubicBezTo>
                <a:cubicBezTo>
                  <a:pt x="175" y="113"/>
                  <a:pt x="175" y="113"/>
                  <a:pt x="175" y="113"/>
                </a:cubicBezTo>
                <a:cubicBezTo>
                  <a:pt x="190" y="113"/>
                  <a:pt x="190" y="113"/>
                  <a:pt x="190" y="113"/>
                </a:cubicBezTo>
                <a:cubicBezTo>
                  <a:pt x="195" y="89"/>
                  <a:pt x="195" y="89"/>
                  <a:pt x="195" y="89"/>
                </a:cubicBezTo>
                <a:cubicBezTo>
                  <a:pt x="204" y="89"/>
                  <a:pt x="204" y="89"/>
                  <a:pt x="204" y="89"/>
                </a:cubicBezTo>
                <a:cubicBezTo>
                  <a:pt x="203" y="96"/>
                  <a:pt x="205" y="103"/>
                  <a:pt x="210" y="108"/>
                </a:cubicBezTo>
                <a:cubicBezTo>
                  <a:pt x="216" y="113"/>
                  <a:pt x="225" y="114"/>
                  <a:pt x="232" y="114"/>
                </a:cubicBezTo>
                <a:cubicBezTo>
                  <a:pt x="241" y="114"/>
                  <a:pt x="251" y="113"/>
                  <a:pt x="260" y="111"/>
                </a:cubicBezTo>
                <a:cubicBezTo>
                  <a:pt x="266" y="89"/>
                  <a:pt x="266" y="89"/>
                  <a:pt x="266" y="89"/>
                </a:cubicBezTo>
                <a:cubicBezTo>
                  <a:pt x="283" y="89"/>
                  <a:pt x="283" y="89"/>
                  <a:pt x="283" y="89"/>
                </a:cubicBezTo>
                <a:cubicBezTo>
                  <a:pt x="283" y="0"/>
                  <a:pt x="283" y="0"/>
                  <a:pt x="283" y="0"/>
                </a:cubicBezTo>
                <a:cubicBezTo>
                  <a:pt x="220" y="0"/>
                  <a:pt x="220" y="0"/>
                  <a:pt x="220" y="0"/>
                </a:cubicBezTo>
                <a:cubicBezTo>
                  <a:pt x="220" y="0"/>
                  <a:pt x="220" y="0"/>
                  <a:pt x="22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 sz="1800" dirty="0"/>
          </a:p>
        </p:txBody>
      </p:sp>
      <p:sp>
        <p:nvSpPr>
          <p:cNvPr id="4" name="TextBox 29">
            <a:extLst>
              <a:ext uri="{FF2B5EF4-FFF2-40B4-BE49-F238E27FC236}">
                <a16:creationId xmlns:a16="http://schemas.microsoft.com/office/drawing/2014/main" id="{CF5EB185-DCE0-3637-E095-98529079E704}"/>
              </a:ext>
            </a:extLst>
          </p:cNvPr>
          <p:cNvSpPr txBox="1"/>
          <p:nvPr userDrawn="1">
            <p:custDataLst>
              <p:tags r:id="rId1"/>
            </p:custDataLst>
          </p:nvPr>
        </p:nvSpPr>
        <p:spPr>
          <a:xfrm>
            <a:off x="1808382" y="6274627"/>
            <a:ext cx="5252061" cy="3708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600" kern="1200" noProof="0" dirty="0">
                <a:solidFill>
                  <a:schemeClr val="bg1">
                    <a:lumMod val="65000"/>
                  </a:schemeClr>
                </a:solidFill>
                <a:effectLst/>
                <a:latin typeface="Arial" panose="020B0604020202020204" pitchFamily="34" charset="0"/>
                <a:ea typeface="DengXian" panose="02010600030101010101" pitchFamily="2" charset="-122"/>
                <a:cs typeface="Arial" panose="020B0604020202020204" pitchFamily="34" charset="0"/>
              </a:rPr>
              <a:t>© 2026 KPMG </a:t>
            </a:r>
            <a:r>
              <a:rPr lang="en-GB" sz="600" kern="1200" noProof="0" dirty="0" err="1">
                <a:solidFill>
                  <a:schemeClr val="bg1">
                    <a:lumMod val="65000"/>
                  </a:schemeClr>
                </a:solidFill>
                <a:effectLst/>
                <a:latin typeface="Arial" panose="020B0604020202020204" pitchFamily="34" charset="0"/>
                <a:ea typeface="DengXian" panose="02010600030101010101" pitchFamily="2" charset="-122"/>
                <a:cs typeface="Arial" panose="020B0604020202020204" pitchFamily="34" charset="0"/>
              </a:rPr>
              <a:t>Huazhen</a:t>
            </a:r>
            <a:r>
              <a:rPr lang="en-GB" sz="600" kern="1200" noProof="0" dirty="0">
                <a:solidFill>
                  <a:schemeClr val="bg1">
                    <a:lumMod val="65000"/>
                  </a:schemeClr>
                </a:solidFill>
                <a:effectLst/>
                <a:latin typeface="Arial" panose="020B0604020202020204" pitchFamily="34" charset="0"/>
                <a:ea typeface="DengXian" panose="02010600030101010101" pitchFamily="2" charset="-122"/>
                <a:cs typeface="Arial" panose="020B0604020202020204" pitchFamily="34" charset="0"/>
              </a:rPr>
              <a:t> LLP, a People's Republic of China partnership, KPMG Advisory (China) Limited, a limited liability company in Chinese Mainland, KPMG, a Macao SAR partnership, and KPMG, a Hong Kong SAR partnership, are member firms of the KPMG global organisation of independent member firms affiliated with KPMG International Limited, a private English company limited by guarantee. All rights reserved.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D098018-33D2-64C0-E969-F8A8944EB90D}"/>
              </a:ext>
            </a:extLst>
          </p:cNvPr>
          <p:cNvSpPr txBox="1"/>
          <p:nvPr userDrawn="1"/>
        </p:nvSpPr>
        <p:spPr>
          <a:xfrm>
            <a:off x="9885505" y="271526"/>
            <a:ext cx="224611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buNone/>
            </a:pPr>
            <a:r>
              <a:rPr lang="sv-SE" sz="1400" b="1" i="0" dirty="0">
                <a:solidFill>
                  <a:schemeClr val="bg1"/>
                </a:solidFill>
                <a:effectLst/>
                <a:latin typeface="+mn-lt"/>
              </a:rPr>
              <a:t>2026 Audit</a:t>
            </a:r>
            <a:br>
              <a:rPr lang="sv-SE" sz="1400" b="1" i="0" dirty="0">
                <a:solidFill>
                  <a:srgbClr val="00338D"/>
                </a:solidFill>
                <a:effectLst/>
                <a:latin typeface="+mn-lt"/>
              </a:rPr>
            </a:br>
            <a:r>
              <a:rPr lang="sv-SE" sz="1400" b="1" i="0" dirty="0">
                <a:solidFill>
                  <a:srgbClr val="76D2FF"/>
                </a:solidFill>
                <a:effectLst/>
                <a:latin typeface="+mn-lt"/>
              </a:rPr>
              <a:t>Innovation Hackathon</a:t>
            </a:r>
            <a:endParaRPr lang="sv-SE" sz="1400" b="1" i="0" dirty="0">
              <a:solidFill>
                <a:srgbClr val="FFFFFF"/>
              </a:solidFill>
              <a:effectLst/>
              <a:latin typeface="+mn-lt"/>
            </a:endParaRP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ECEC9636-DA7F-96CE-EDAE-31CB0F22F3A1}"/>
              </a:ext>
            </a:extLst>
          </p:cNvPr>
          <p:cNvCxnSpPr>
            <a:cxnSpLocks/>
          </p:cNvCxnSpPr>
          <p:nvPr userDrawn="1"/>
        </p:nvCxnSpPr>
        <p:spPr>
          <a:xfrm>
            <a:off x="10045700" y="794746"/>
            <a:ext cx="2021327" cy="0"/>
          </a:xfrm>
          <a:prstGeom prst="line">
            <a:avLst/>
          </a:prstGeom>
          <a:ln w="12700">
            <a:solidFill>
              <a:schemeClr val="accent4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E57E1BCC-D1AD-E38A-C864-5A500F4ACBE3}"/>
              </a:ext>
            </a:extLst>
          </p:cNvPr>
          <p:cNvSpPr txBox="1"/>
          <p:nvPr userDrawn="1"/>
        </p:nvSpPr>
        <p:spPr>
          <a:xfrm>
            <a:off x="10400307" y="778479"/>
            <a:ext cx="173130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buNone/>
            </a:pPr>
            <a:r>
              <a:rPr lang="en-GB" sz="1000" b="1" i="0" dirty="0">
                <a:solidFill>
                  <a:schemeClr val="bg1"/>
                </a:solidFill>
                <a:effectLst/>
                <a:latin typeface="+mn-lt"/>
              </a:rPr>
              <a:t>Emphasizing</a:t>
            </a:r>
            <a:br>
              <a:rPr lang="en-GB" sz="1000" b="1" i="0" dirty="0">
                <a:solidFill>
                  <a:schemeClr val="bg1"/>
                </a:solidFill>
                <a:effectLst/>
                <a:latin typeface="+mn-lt"/>
              </a:rPr>
            </a:br>
            <a:r>
              <a:rPr lang="en-GB" sz="1000" b="1" i="0" dirty="0">
                <a:solidFill>
                  <a:srgbClr val="76D2FF"/>
                </a:solidFill>
                <a:effectLst/>
                <a:latin typeface="+mn-lt"/>
              </a:rPr>
              <a:t>Prototyping &amp; Innovation</a:t>
            </a:r>
            <a:endParaRPr lang="en-GB" sz="1000" b="1" i="0" dirty="0">
              <a:solidFill>
                <a:srgbClr val="0C233C"/>
              </a:solidFill>
              <a:effectLst/>
              <a:latin typeface="+mn-lt"/>
            </a:endParaRPr>
          </a:p>
        </p:txBody>
      </p:sp>
      <p:sp>
        <p:nvSpPr>
          <p:cNvPr id="22" name="Title Placeholder 1">
            <a:extLst>
              <a:ext uri="{FF2B5EF4-FFF2-40B4-BE49-F238E27FC236}">
                <a16:creationId xmlns:a16="http://schemas.microsoft.com/office/drawing/2014/main" id="{69F4DFE0-A2A8-8FB2-9FC5-941AD57B8A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128587"/>
            <a:ext cx="10858500" cy="900112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>
            <a:lvl1pPr>
              <a:defRPr sz="6000">
                <a:solidFill>
                  <a:schemeClr val="bg1"/>
                </a:solidFill>
              </a:defRPr>
            </a:lvl1pPr>
          </a:lstStyle>
          <a:p>
            <a:pPr lvl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</a:pPr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31546641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998400" y="584200"/>
            <a:ext cx="10195200" cy="533400"/>
          </a:xfrm>
        </p:spPr>
        <p:txBody>
          <a:bodyPr/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3057A25-2FC6-D29B-1AEE-413906D4582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16624" b="18403"/>
          <a:stretch>
            <a:fillRect/>
          </a:stretch>
        </p:blipFill>
        <p:spPr>
          <a:xfrm>
            <a:off x="10512430" y="4290839"/>
            <a:ext cx="1362340" cy="1573613"/>
          </a:xfrm>
          <a:prstGeom prst="rect">
            <a:avLst/>
          </a:prstGeom>
          <a:effectLst>
            <a:outerShdw blurRad="50800" dist="38100" dir="2700000" algn="tl" rotWithShape="0">
              <a:schemeClr val="bg1">
                <a:alpha val="40000"/>
              </a:schemeClr>
            </a:outerShdw>
            <a:reflection blurRad="6350" stA="50000" endA="300" endPos="28000" dir="5400000" sy="-100000" algn="bl" rotWithShape="0"/>
          </a:effec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CBD485D-26D0-65EF-FF6E-B0332ED1079F}"/>
              </a:ext>
            </a:extLst>
          </p:cNvPr>
          <p:cNvSpPr txBox="1"/>
          <p:nvPr userDrawn="1"/>
        </p:nvSpPr>
        <p:spPr>
          <a:xfrm>
            <a:off x="10234613" y="431224"/>
            <a:ext cx="1631157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buNone/>
            </a:pPr>
            <a:r>
              <a:rPr lang="sv-SE" sz="1050" b="1" i="0" dirty="0">
                <a:solidFill>
                  <a:srgbClr val="00338D"/>
                </a:solidFill>
                <a:effectLst/>
                <a:latin typeface="+mn-lt"/>
              </a:rPr>
              <a:t>2026 Audit</a:t>
            </a:r>
            <a:br>
              <a:rPr lang="sv-SE" sz="1050" b="1" i="0" dirty="0">
                <a:solidFill>
                  <a:srgbClr val="00338D"/>
                </a:solidFill>
                <a:effectLst/>
                <a:latin typeface="+mn-lt"/>
              </a:rPr>
            </a:br>
            <a:r>
              <a:rPr lang="sv-SE" sz="1050" b="1" i="0" dirty="0">
                <a:solidFill>
                  <a:srgbClr val="76D2FF"/>
                </a:solidFill>
                <a:effectLst/>
                <a:latin typeface="+mn-lt"/>
              </a:rPr>
              <a:t>Innovation Hackathon</a:t>
            </a:r>
            <a:endParaRPr lang="sv-SE" sz="1050" b="1" i="0" dirty="0">
              <a:solidFill>
                <a:srgbClr val="FFFFFF"/>
              </a:solidFill>
              <a:effectLst/>
              <a:latin typeface="+mn-lt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BBBFFC23-735B-84B2-2793-7F81E1753726}"/>
              </a:ext>
            </a:extLst>
          </p:cNvPr>
          <p:cNvCxnSpPr/>
          <p:nvPr userDrawn="1"/>
        </p:nvCxnSpPr>
        <p:spPr>
          <a:xfrm>
            <a:off x="10136038" y="824358"/>
            <a:ext cx="1696393" cy="0"/>
          </a:xfrm>
          <a:prstGeom prst="line">
            <a:avLst/>
          </a:prstGeom>
          <a:ln w="12700">
            <a:solidFill>
              <a:schemeClr val="accent4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EE122826-FC16-1038-575A-F508DB09ED0D}"/>
              </a:ext>
            </a:extLst>
          </p:cNvPr>
          <p:cNvSpPr txBox="1"/>
          <p:nvPr userDrawn="1"/>
        </p:nvSpPr>
        <p:spPr>
          <a:xfrm>
            <a:off x="10608470" y="809823"/>
            <a:ext cx="12573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buNone/>
            </a:pPr>
            <a:r>
              <a:rPr lang="en-GB" sz="700" b="1" i="0" dirty="0">
                <a:solidFill>
                  <a:srgbClr val="00338D"/>
                </a:solidFill>
                <a:effectLst/>
                <a:latin typeface="+mn-lt"/>
              </a:rPr>
              <a:t>Emphasizing</a:t>
            </a:r>
            <a:br>
              <a:rPr lang="en-GB" sz="700" b="1" i="0" dirty="0">
                <a:solidFill>
                  <a:srgbClr val="00338D"/>
                </a:solidFill>
                <a:effectLst/>
                <a:latin typeface="+mn-lt"/>
              </a:rPr>
            </a:br>
            <a:r>
              <a:rPr lang="en-GB" sz="700" b="1" i="0" dirty="0">
                <a:solidFill>
                  <a:srgbClr val="76D2FF"/>
                </a:solidFill>
                <a:effectLst/>
                <a:latin typeface="+mn-lt"/>
              </a:rPr>
              <a:t>Prototyping &amp; Innovation</a:t>
            </a:r>
            <a:endParaRPr lang="en-GB" sz="700" b="1" i="0" dirty="0">
              <a:solidFill>
                <a:srgbClr val="0C233C"/>
              </a:solidFill>
              <a:effectLst/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7460003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ags" Target="../tags/tag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98400" y="431800"/>
            <a:ext cx="10195200" cy="5334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03202" y="1330127"/>
            <a:ext cx="10194471" cy="45467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9" name="Shape 8"/>
          <p:cNvSpPr txBox="1">
            <a:spLocks/>
          </p:cNvSpPr>
          <p:nvPr userDrawn="1"/>
        </p:nvSpPr>
        <p:spPr>
          <a:xfrm>
            <a:off x="10946607" y="6266998"/>
            <a:ext cx="242487" cy="149412"/>
          </a:xfrm>
          <a:prstGeom prst="rect">
            <a:avLst/>
          </a:prstGeom>
        </p:spPr>
        <p:txBody>
          <a:bodyPr lIns="0" tIns="0" rIns="0" bIns="0" anchor="b" anchorCtr="0"/>
          <a:lstStyle>
            <a:defPPr>
              <a:defRPr lang="en-US"/>
            </a:defPPr>
            <a:lvl1pPr marL="0" algn="l" defTabSz="457200" rtl="0" eaLnBrk="1" latinLnBrk="0" hangingPunct="1">
              <a:defRPr sz="1000" kern="1200">
                <a:solidFill>
                  <a:srgbClr val="0061A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86CB4B4D-7CA3-9044-876B-883B54F8677D}" type="slidenum">
              <a:rPr lang="en-GB" sz="1000" smtClean="0">
                <a:solidFill>
                  <a:schemeClr val="accent2"/>
                </a:solidFill>
                <a:latin typeface="+mn-lt"/>
                <a:ea typeface="Arial"/>
                <a:cs typeface="Arial" panose="020B0604020202020204" pitchFamily="34" charset="0"/>
              </a:rPr>
              <a:pPr algn="r"/>
              <a:t>‹#›</a:t>
            </a:fld>
            <a:endParaRPr lang="en-GB" sz="1000" dirty="0">
              <a:solidFill>
                <a:schemeClr val="accent2"/>
              </a:solidFill>
              <a:latin typeface="+mn-lt"/>
              <a:ea typeface="Arial"/>
              <a:cs typeface="Arial" panose="020B0604020202020204" pitchFamily="34" charset="0"/>
            </a:endParaRPr>
          </a:p>
        </p:txBody>
      </p:sp>
      <p:sp>
        <p:nvSpPr>
          <p:cNvPr id="26" name="Freeform 1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EditPoints="1"/>
          </p:cNvSpPr>
          <p:nvPr userDrawn="1"/>
        </p:nvSpPr>
        <p:spPr bwMode="auto">
          <a:xfrm>
            <a:off x="1003202" y="6266998"/>
            <a:ext cx="484029" cy="196893"/>
          </a:xfrm>
          <a:custGeom>
            <a:avLst/>
            <a:gdLst>
              <a:gd name="T0" fmla="*/ 269 w 283"/>
              <a:gd name="T1" fmla="*/ 77 h 114"/>
              <a:gd name="T2" fmla="*/ 222 w 283"/>
              <a:gd name="T3" fmla="*/ 87 h 114"/>
              <a:gd name="T4" fmla="*/ 244 w 283"/>
              <a:gd name="T5" fmla="*/ 60 h 114"/>
              <a:gd name="T6" fmla="*/ 269 w 283"/>
              <a:gd name="T7" fmla="*/ 56 h 114"/>
              <a:gd name="T8" fmla="*/ 222 w 283"/>
              <a:gd name="T9" fmla="*/ 2 h 114"/>
              <a:gd name="T10" fmla="*/ 281 w 283"/>
              <a:gd name="T11" fmla="*/ 87 h 114"/>
              <a:gd name="T12" fmla="*/ 222 w 283"/>
              <a:gd name="T13" fmla="*/ 89 h 114"/>
              <a:gd name="T14" fmla="*/ 246 w 283"/>
              <a:gd name="T15" fmla="*/ 101 h 114"/>
              <a:gd name="T16" fmla="*/ 205 w 283"/>
              <a:gd name="T17" fmla="*/ 82 h 114"/>
              <a:gd name="T18" fmla="*/ 203 w 283"/>
              <a:gd name="T19" fmla="*/ 52 h 114"/>
              <a:gd name="T20" fmla="*/ 154 w 283"/>
              <a:gd name="T21" fmla="*/ 87 h 114"/>
              <a:gd name="T22" fmla="*/ 213 w 283"/>
              <a:gd name="T23" fmla="*/ 53 h 114"/>
              <a:gd name="T24" fmla="*/ 171 w 283"/>
              <a:gd name="T25" fmla="*/ 87 h 114"/>
              <a:gd name="T26" fmla="*/ 180 w 283"/>
              <a:gd name="T27" fmla="*/ 87 h 114"/>
              <a:gd name="T28" fmla="*/ 120 w 283"/>
              <a:gd name="T29" fmla="*/ 87 h 114"/>
              <a:gd name="T30" fmla="*/ 117 w 283"/>
              <a:gd name="T31" fmla="*/ 56 h 114"/>
              <a:gd name="T32" fmla="*/ 86 w 283"/>
              <a:gd name="T33" fmla="*/ 2 h 114"/>
              <a:gd name="T34" fmla="*/ 145 w 283"/>
              <a:gd name="T35" fmla="*/ 52 h 114"/>
              <a:gd name="T36" fmla="*/ 142 w 283"/>
              <a:gd name="T37" fmla="*/ 87 h 114"/>
              <a:gd name="T38" fmla="*/ 93 w 283"/>
              <a:gd name="T39" fmla="*/ 79 h 114"/>
              <a:gd name="T40" fmla="*/ 89 w 283"/>
              <a:gd name="T41" fmla="*/ 79 h 114"/>
              <a:gd name="T42" fmla="*/ 87 w 283"/>
              <a:gd name="T43" fmla="*/ 69 h 114"/>
              <a:gd name="T44" fmla="*/ 95 w 283"/>
              <a:gd name="T45" fmla="*/ 62 h 114"/>
              <a:gd name="T46" fmla="*/ 93 w 283"/>
              <a:gd name="T47" fmla="*/ 79 h 114"/>
              <a:gd name="T48" fmla="*/ 67 w 283"/>
              <a:gd name="T49" fmla="*/ 86 h 114"/>
              <a:gd name="T50" fmla="*/ 37 w 283"/>
              <a:gd name="T51" fmla="*/ 82 h 114"/>
              <a:gd name="T52" fmla="*/ 25 w 283"/>
              <a:gd name="T53" fmla="*/ 77 h 114"/>
              <a:gd name="T54" fmla="*/ 18 w 283"/>
              <a:gd name="T55" fmla="*/ 2 h 114"/>
              <a:gd name="T56" fmla="*/ 76 w 283"/>
              <a:gd name="T57" fmla="*/ 55 h 114"/>
              <a:gd name="T58" fmla="*/ 22 w 283"/>
              <a:gd name="T59" fmla="*/ 87 h 114"/>
              <a:gd name="T60" fmla="*/ 220 w 283"/>
              <a:gd name="T61" fmla="*/ 0 h 114"/>
              <a:gd name="T62" fmla="*/ 215 w 283"/>
              <a:gd name="T63" fmla="*/ 0 h 114"/>
              <a:gd name="T64" fmla="*/ 147 w 283"/>
              <a:gd name="T65" fmla="*/ 52 h 114"/>
              <a:gd name="T66" fmla="*/ 84 w 283"/>
              <a:gd name="T67" fmla="*/ 52 h 114"/>
              <a:gd name="T68" fmla="*/ 16 w 283"/>
              <a:gd name="T69" fmla="*/ 0 h 114"/>
              <a:gd name="T70" fmla="*/ 14 w 283"/>
              <a:gd name="T71" fmla="*/ 113 h 114"/>
              <a:gd name="T72" fmla="*/ 35 w 283"/>
              <a:gd name="T73" fmla="*/ 113 h 114"/>
              <a:gd name="T74" fmla="*/ 66 w 283"/>
              <a:gd name="T75" fmla="*/ 89 h 114"/>
              <a:gd name="T76" fmla="*/ 81 w 283"/>
              <a:gd name="T77" fmla="*/ 89 h 114"/>
              <a:gd name="T78" fmla="*/ 90 w 283"/>
              <a:gd name="T79" fmla="*/ 89 h 114"/>
              <a:gd name="T80" fmla="*/ 112 w 283"/>
              <a:gd name="T81" fmla="*/ 113 h 114"/>
              <a:gd name="T82" fmla="*/ 142 w 283"/>
              <a:gd name="T83" fmla="*/ 89 h 114"/>
              <a:gd name="T84" fmla="*/ 170 w 283"/>
              <a:gd name="T85" fmla="*/ 89 h 114"/>
              <a:gd name="T86" fmla="*/ 190 w 283"/>
              <a:gd name="T87" fmla="*/ 113 h 114"/>
              <a:gd name="T88" fmla="*/ 210 w 283"/>
              <a:gd name="T89" fmla="*/ 108 h 114"/>
              <a:gd name="T90" fmla="*/ 266 w 283"/>
              <a:gd name="T91" fmla="*/ 89 h 114"/>
              <a:gd name="T92" fmla="*/ 220 w 283"/>
              <a:gd name="T93" fmla="*/ 0 h 11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</a:cxnLst>
            <a:rect l="0" t="0" r="r" b="b"/>
            <a:pathLst>
              <a:path w="283" h="114">
                <a:moveTo>
                  <a:pt x="281" y="87"/>
                </a:moveTo>
                <a:cubicBezTo>
                  <a:pt x="266" y="87"/>
                  <a:pt x="266" y="87"/>
                  <a:pt x="266" y="87"/>
                </a:cubicBezTo>
                <a:cubicBezTo>
                  <a:pt x="269" y="77"/>
                  <a:pt x="269" y="77"/>
                  <a:pt x="269" y="77"/>
                </a:cubicBezTo>
                <a:cubicBezTo>
                  <a:pt x="239" y="77"/>
                  <a:pt x="239" y="77"/>
                  <a:pt x="239" y="77"/>
                </a:cubicBezTo>
                <a:cubicBezTo>
                  <a:pt x="237" y="87"/>
                  <a:pt x="237" y="87"/>
                  <a:pt x="237" y="87"/>
                </a:cubicBezTo>
                <a:cubicBezTo>
                  <a:pt x="222" y="87"/>
                  <a:pt x="222" y="87"/>
                  <a:pt x="222" y="87"/>
                </a:cubicBezTo>
                <a:cubicBezTo>
                  <a:pt x="222" y="85"/>
                  <a:pt x="222" y="85"/>
                  <a:pt x="222" y="85"/>
                </a:cubicBezTo>
                <a:cubicBezTo>
                  <a:pt x="223" y="84"/>
                  <a:pt x="223" y="83"/>
                  <a:pt x="223" y="81"/>
                </a:cubicBezTo>
                <a:cubicBezTo>
                  <a:pt x="226" y="71"/>
                  <a:pt x="233" y="60"/>
                  <a:pt x="244" y="60"/>
                </a:cubicBezTo>
                <a:cubicBezTo>
                  <a:pt x="249" y="60"/>
                  <a:pt x="254" y="62"/>
                  <a:pt x="253" y="69"/>
                </a:cubicBezTo>
                <a:cubicBezTo>
                  <a:pt x="271" y="69"/>
                  <a:pt x="271" y="69"/>
                  <a:pt x="271" y="69"/>
                </a:cubicBezTo>
                <a:cubicBezTo>
                  <a:pt x="272" y="66"/>
                  <a:pt x="273" y="61"/>
                  <a:pt x="269" y="56"/>
                </a:cubicBezTo>
                <a:cubicBezTo>
                  <a:pt x="266" y="51"/>
                  <a:pt x="258" y="48"/>
                  <a:pt x="248" y="48"/>
                </a:cubicBezTo>
                <a:cubicBezTo>
                  <a:pt x="241" y="48"/>
                  <a:pt x="231" y="50"/>
                  <a:pt x="222" y="55"/>
                </a:cubicBezTo>
                <a:cubicBezTo>
                  <a:pt x="222" y="2"/>
                  <a:pt x="222" y="2"/>
                  <a:pt x="222" y="2"/>
                </a:cubicBezTo>
                <a:cubicBezTo>
                  <a:pt x="281" y="2"/>
                  <a:pt x="281" y="2"/>
                  <a:pt x="281" y="2"/>
                </a:cubicBezTo>
                <a:cubicBezTo>
                  <a:pt x="281" y="87"/>
                  <a:pt x="281" y="87"/>
                  <a:pt x="281" y="87"/>
                </a:cubicBezTo>
                <a:cubicBezTo>
                  <a:pt x="281" y="87"/>
                  <a:pt x="281" y="87"/>
                  <a:pt x="281" y="87"/>
                </a:cubicBezTo>
                <a:close/>
                <a:moveTo>
                  <a:pt x="246" y="101"/>
                </a:moveTo>
                <a:cubicBezTo>
                  <a:pt x="243" y="102"/>
                  <a:pt x="240" y="102"/>
                  <a:pt x="237" y="102"/>
                </a:cubicBezTo>
                <a:cubicBezTo>
                  <a:pt x="228" y="102"/>
                  <a:pt x="222" y="98"/>
                  <a:pt x="222" y="89"/>
                </a:cubicBezTo>
                <a:cubicBezTo>
                  <a:pt x="249" y="89"/>
                  <a:pt x="249" y="89"/>
                  <a:pt x="249" y="89"/>
                </a:cubicBezTo>
                <a:cubicBezTo>
                  <a:pt x="246" y="101"/>
                  <a:pt x="246" y="101"/>
                  <a:pt x="246" y="101"/>
                </a:cubicBezTo>
                <a:cubicBezTo>
                  <a:pt x="246" y="101"/>
                  <a:pt x="246" y="101"/>
                  <a:pt x="246" y="101"/>
                </a:cubicBezTo>
                <a:close/>
                <a:moveTo>
                  <a:pt x="213" y="53"/>
                </a:moveTo>
                <a:cubicBezTo>
                  <a:pt x="213" y="65"/>
                  <a:pt x="213" y="65"/>
                  <a:pt x="213" y="65"/>
                </a:cubicBezTo>
                <a:cubicBezTo>
                  <a:pt x="209" y="71"/>
                  <a:pt x="206" y="77"/>
                  <a:pt x="205" y="82"/>
                </a:cubicBezTo>
                <a:cubicBezTo>
                  <a:pt x="204" y="83"/>
                  <a:pt x="204" y="85"/>
                  <a:pt x="204" y="87"/>
                </a:cubicBezTo>
                <a:cubicBezTo>
                  <a:pt x="195" y="87"/>
                  <a:pt x="195" y="87"/>
                  <a:pt x="195" y="87"/>
                </a:cubicBezTo>
                <a:cubicBezTo>
                  <a:pt x="203" y="52"/>
                  <a:pt x="203" y="52"/>
                  <a:pt x="203" y="52"/>
                </a:cubicBezTo>
                <a:cubicBezTo>
                  <a:pt x="178" y="52"/>
                  <a:pt x="178" y="52"/>
                  <a:pt x="178" y="52"/>
                </a:cubicBezTo>
                <a:cubicBezTo>
                  <a:pt x="156" y="87"/>
                  <a:pt x="156" y="87"/>
                  <a:pt x="156" y="87"/>
                </a:cubicBezTo>
                <a:cubicBezTo>
                  <a:pt x="154" y="87"/>
                  <a:pt x="154" y="87"/>
                  <a:pt x="154" y="87"/>
                </a:cubicBezTo>
                <a:cubicBezTo>
                  <a:pt x="154" y="2"/>
                  <a:pt x="154" y="2"/>
                  <a:pt x="154" y="2"/>
                </a:cubicBezTo>
                <a:cubicBezTo>
                  <a:pt x="213" y="2"/>
                  <a:pt x="213" y="2"/>
                  <a:pt x="213" y="2"/>
                </a:cubicBezTo>
                <a:cubicBezTo>
                  <a:pt x="213" y="53"/>
                  <a:pt x="213" y="53"/>
                  <a:pt x="213" y="53"/>
                </a:cubicBezTo>
                <a:cubicBezTo>
                  <a:pt x="213" y="53"/>
                  <a:pt x="213" y="53"/>
                  <a:pt x="213" y="53"/>
                </a:cubicBezTo>
                <a:close/>
                <a:moveTo>
                  <a:pt x="180" y="87"/>
                </a:moveTo>
                <a:cubicBezTo>
                  <a:pt x="171" y="87"/>
                  <a:pt x="171" y="87"/>
                  <a:pt x="171" y="87"/>
                </a:cubicBezTo>
                <a:cubicBezTo>
                  <a:pt x="185" y="66"/>
                  <a:pt x="185" y="66"/>
                  <a:pt x="185" y="66"/>
                </a:cubicBezTo>
                <a:cubicBezTo>
                  <a:pt x="180" y="87"/>
                  <a:pt x="180" y="87"/>
                  <a:pt x="180" y="87"/>
                </a:cubicBezTo>
                <a:cubicBezTo>
                  <a:pt x="180" y="87"/>
                  <a:pt x="180" y="87"/>
                  <a:pt x="180" y="87"/>
                </a:cubicBezTo>
                <a:close/>
                <a:moveTo>
                  <a:pt x="145" y="52"/>
                </a:moveTo>
                <a:cubicBezTo>
                  <a:pt x="130" y="52"/>
                  <a:pt x="130" y="52"/>
                  <a:pt x="130" y="52"/>
                </a:cubicBezTo>
                <a:cubicBezTo>
                  <a:pt x="120" y="87"/>
                  <a:pt x="120" y="87"/>
                  <a:pt x="120" y="87"/>
                </a:cubicBezTo>
                <a:cubicBezTo>
                  <a:pt x="104" y="87"/>
                  <a:pt x="104" y="87"/>
                  <a:pt x="104" y="87"/>
                </a:cubicBezTo>
                <a:cubicBezTo>
                  <a:pt x="112" y="84"/>
                  <a:pt x="117" y="78"/>
                  <a:pt x="119" y="70"/>
                </a:cubicBezTo>
                <a:cubicBezTo>
                  <a:pt x="120" y="64"/>
                  <a:pt x="119" y="59"/>
                  <a:pt x="117" y="56"/>
                </a:cubicBezTo>
                <a:cubicBezTo>
                  <a:pt x="113" y="51"/>
                  <a:pt x="105" y="52"/>
                  <a:pt x="98" y="52"/>
                </a:cubicBezTo>
                <a:cubicBezTo>
                  <a:pt x="97" y="52"/>
                  <a:pt x="86" y="52"/>
                  <a:pt x="86" y="52"/>
                </a:cubicBezTo>
                <a:cubicBezTo>
                  <a:pt x="86" y="2"/>
                  <a:pt x="86" y="2"/>
                  <a:pt x="86" y="2"/>
                </a:cubicBezTo>
                <a:cubicBezTo>
                  <a:pt x="145" y="2"/>
                  <a:pt x="145" y="2"/>
                  <a:pt x="145" y="2"/>
                </a:cubicBezTo>
                <a:cubicBezTo>
                  <a:pt x="145" y="52"/>
                  <a:pt x="145" y="52"/>
                  <a:pt x="145" y="52"/>
                </a:cubicBezTo>
                <a:cubicBezTo>
                  <a:pt x="145" y="52"/>
                  <a:pt x="145" y="52"/>
                  <a:pt x="145" y="52"/>
                </a:cubicBezTo>
                <a:close/>
                <a:moveTo>
                  <a:pt x="135" y="87"/>
                </a:moveTo>
                <a:cubicBezTo>
                  <a:pt x="141" y="65"/>
                  <a:pt x="141" y="65"/>
                  <a:pt x="141" y="65"/>
                </a:cubicBezTo>
                <a:cubicBezTo>
                  <a:pt x="142" y="87"/>
                  <a:pt x="142" y="87"/>
                  <a:pt x="142" y="87"/>
                </a:cubicBezTo>
                <a:cubicBezTo>
                  <a:pt x="135" y="87"/>
                  <a:pt x="135" y="87"/>
                  <a:pt x="135" y="87"/>
                </a:cubicBezTo>
                <a:cubicBezTo>
                  <a:pt x="135" y="87"/>
                  <a:pt x="135" y="87"/>
                  <a:pt x="135" y="87"/>
                </a:cubicBezTo>
                <a:close/>
                <a:moveTo>
                  <a:pt x="93" y="79"/>
                </a:moveTo>
                <a:cubicBezTo>
                  <a:pt x="93" y="79"/>
                  <a:pt x="93" y="79"/>
                  <a:pt x="93" y="79"/>
                </a:cubicBezTo>
                <a:cubicBezTo>
                  <a:pt x="92" y="79"/>
                  <a:pt x="91" y="79"/>
                  <a:pt x="91" y="79"/>
                </a:cubicBezTo>
                <a:cubicBezTo>
                  <a:pt x="90" y="79"/>
                  <a:pt x="89" y="79"/>
                  <a:pt x="89" y="79"/>
                </a:cubicBezTo>
                <a:cubicBezTo>
                  <a:pt x="85" y="79"/>
                  <a:pt x="85" y="79"/>
                  <a:pt x="85" y="79"/>
                </a:cubicBezTo>
                <a:cubicBezTo>
                  <a:pt x="87" y="72"/>
                  <a:pt x="87" y="72"/>
                  <a:pt x="87" y="72"/>
                </a:cubicBezTo>
                <a:cubicBezTo>
                  <a:pt x="87" y="69"/>
                  <a:pt x="87" y="69"/>
                  <a:pt x="87" y="69"/>
                </a:cubicBezTo>
                <a:cubicBezTo>
                  <a:pt x="89" y="62"/>
                  <a:pt x="89" y="62"/>
                  <a:pt x="89" y="62"/>
                </a:cubicBezTo>
                <a:cubicBezTo>
                  <a:pt x="90" y="62"/>
                  <a:pt x="91" y="62"/>
                  <a:pt x="92" y="62"/>
                </a:cubicBezTo>
                <a:cubicBezTo>
                  <a:pt x="95" y="62"/>
                  <a:pt x="95" y="62"/>
                  <a:pt x="95" y="62"/>
                </a:cubicBezTo>
                <a:cubicBezTo>
                  <a:pt x="100" y="62"/>
                  <a:pt x="103" y="62"/>
                  <a:pt x="104" y="63"/>
                </a:cubicBezTo>
                <a:cubicBezTo>
                  <a:pt x="105" y="65"/>
                  <a:pt x="105" y="67"/>
                  <a:pt x="104" y="70"/>
                </a:cubicBezTo>
                <a:cubicBezTo>
                  <a:pt x="102" y="75"/>
                  <a:pt x="100" y="78"/>
                  <a:pt x="93" y="79"/>
                </a:cubicBezTo>
                <a:moveTo>
                  <a:pt x="76" y="55"/>
                </a:moveTo>
                <a:cubicBezTo>
                  <a:pt x="75" y="58"/>
                  <a:pt x="75" y="58"/>
                  <a:pt x="75" y="58"/>
                </a:cubicBezTo>
                <a:cubicBezTo>
                  <a:pt x="67" y="86"/>
                  <a:pt x="67" y="86"/>
                  <a:pt x="67" y="86"/>
                </a:cubicBezTo>
                <a:cubicBezTo>
                  <a:pt x="67" y="87"/>
                  <a:pt x="67" y="87"/>
                  <a:pt x="67" y="87"/>
                </a:cubicBezTo>
                <a:cubicBezTo>
                  <a:pt x="39" y="87"/>
                  <a:pt x="39" y="87"/>
                  <a:pt x="39" y="87"/>
                </a:cubicBezTo>
                <a:cubicBezTo>
                  <a:pt x="37" y="82"/>
                  <a:pt x="37" y="82"/>
                  <a:pt x="37" y="82"/>
                </a:cubicBezTo>
                <a:cubicBezTo>
                  <a:pt x="67" y="52"/>
                  <a:pt x="67" y="52"/>
                  <a:pt x="67" y="52"/>
                </a:cubicBezTo>
                <a:cubicBezTo>
                  <a:pt x="48" y="52"/>
                  <a:pt x="48" y="52"/>
                  <a:pt x="48" y="52"/>
                </a:cubicBezTo>
                <a:cubicBezTo>
                  <a:pt x="25" y="77"/>
                  <a:pt x="25" y="77"/>
                  <a:pt x="25" y="77"/>
                </a:cubicBezTo>
                <a:cubicBezTo>
                  <a:pt x="32" y="52"/>
                  <a:pt x="32" y="52"/>
                  <a:pt x="32" y="52"/>
                </a:cubicBezTo>
                <a:cubicBezTo>
                  <a:pt x="18" y="52"/>
                  <a:pt x="18" y="52"/>
                  <a:pt x="18" y="52"/>
                </a:cubicBezTo>
                <a:cubicBezTo>
                  <a:pt x="18" y="2"/>
                  <a:pt x="18" y="2"/>
                  <a:pt x="18" y="2"/>
                </a:cubicBezTo>
                <a:cubicBezTo>
                  <a:pt x="76" y="2"/>
                  <a:pt x="76" y="2"/>
                  <a:pt x="76" y="2"/>
                </a:cubicBezTo>
                <a:cubicBezTo>
                  <a:pt x="76" y="55"/>
                  <a:pt x="76" y="55"/>
                  <a:pt x="76" y="55"/>
                </a:cubicBezTo>
                <a:cubicBezTo>
                  <a:pt x="76" y="55"/>
                  <a:pt x="76" y="55"/>
                  <a:pt x="76" y="55"/>
                </a:cubicBezTo>
                <a:close/>
                <a:moveTo>
                  <a:pt x="22" y="87"/>
                </a:moveTo>
                <a:cubicBezTo>
                  <a:pt x="22" y="87"/>
                  <a:pt x="22" y="87"/>
                  <a:pt x="22" y="87"/>
                </a:cubicBezTo>
                <a:cubicBezTo>
                  <a:pt x="22" y="87"/>
                  <a:pt x="22" y="87"/>
                  <a:pt x="22" y="87"/>
                </a:cubicBezTo>
                <a:cubicBezTo>
                  <a:pt x="22" y="87"/>
                  <a:pt x="22" y="87"/>
                  <a:pt x="22" y="87"/>
                </a:cubicBezTo>
                <a:cubicBezTo>
                  <a:pt x="22" y="87"/>
                  <a:pt x="22" y="87"/>
                  <a:pt x="22" y="87"/>
                </a:cubicBezTo>
                <a:close/>
                <a:moveTo>
                  <a:pt x="220" y="0"/>
                </a:moveTo>
                <a:cubicBezTo>
                  <a:pt x="220" y="57"/>
                  <a:pt x="220" y="57"/>
                  <a:pt x="220" y="57"/>
                </a:cubicBezTo>
                <a:cubicBezTo>
                  <a:pt x="218" y="59"/>
                  <a:pt x="216" y="60"/>
                  <a:pt x="215" y="62"/>
                </a:cubicBezTo>
                <a:cubicBezTo>
                  <a:pt x="215" y="0"/>
                  <a:pt x="215" y="0"/>
                  <a:pt x="215" y="0"/>
                </a:cubicBezTo>
                <a:cubicBezTo>
                  <a:pt x="152" y="0"/>
                  <a:pt x="152" y="0"/>
                  <a:pt x="152" y="0"/>
                </a:cubicBezTo>
                <a:cubicBezTo>
                  <a:pt x="152" y="52"/>
                  <a:pt x="152" y="52"/>
                  <a:pt x="152" y="52"/>
                </a:cubicBezTo>
                <a:cubicBezTo>
                  <a:pt x="147" y="52"/>
                  <a:pt x="147" y="52"/>
                  <a:pt x="147" y="52"/>
                </a:cubicBezTo>
                <a:cubicBezTo>
                  <a:pt x="147" y="0"/>
                  <a:pt x="147" y="0"/>
                  <a:pt x="147" y="0"/>
                </a:cubicBezTo>
                <a:cubicBezTo>
                  <a:pt x="84" y="0"/>
                  <a:pt x="84" y="0"/>
                  <a:pt x="84" y="0"/>
                </a:cubicBezTo>
                <a:cubicBezTo>
                  <a:pt x="84" y="52"/>
                  <a:pt x="84" y="52"/>
                  <a:pt x="84" y="52"/>
                </a:cubicBezTo>
                <a:cubicBezTo>
                  <a:pt x="79" y="52"/>
                  <a:pt x="79" y="52"/>
                  <a:pt x="79" y="52"/>
                </a:cubicBezTo>
                <a:cubicBezTo>
                  <a:pt x="79" y="0"/>
                  <a:pt x="79" y="0"/>
                  <a:pt x="79" y="0"/>
                </a:cubicBezTo>
                <a:cubicBezTo>
                  <a:pt x="16" y="0"/>
                  <a:pt x="16" y="0"/>
                  <a:pt x="16" y="0"/>
                </a:cubicBezTo>
                <a:cubicBezTo>
                  <a:pt x="16" y="59"/>
                  <a:pt x="16" y="59"/>
                  <a:pt x="16" y="59"/>
                </a:cubicBezTo>
                <a:cubicBezTo>
                  <a:pt x="0" y="113"/>
                  <a:pt x="0" y="113"/>
                  <a:pt x="0" y="113"/>
                </a:cubicBezTo>
                <a:cubicBezTo>
                  <a:pt x="14" y="113"/>
                  <a:pt x="14" y="113"/>
                  <a:pt x="14" y="113"/>
                </a:cubicBezTo>
                <a:cubicBezTo>
                  <a:pt x="21" y="89"/>
                  <a:pt x="21" y="89"/>
                  <a:pt x="21" y="89"/>
                </a:cubicBezTo>
                <a:cubicBezTo>
                  <a:pt x="23" y="89"/>
                  <a:pt x="23" y="89"/>
                  <a:pt x="23" y="89"/>
                </a:cubicBezTo>
                <a:cubicBezTo>
                  <a:pt x="35" y="113"/>
                  <a:pt x="35" y="113"/>
                  <a:pt x="35" y="113"/>
                </a:cubicBezTo>
                <a:cubicBezTo>
                  <a:pt x="52" y="113"/>
                  <a:pt x="52" y="113"/>
                  <a:pt x="52" y="113"/>
                </a:cubicBezTo>
                <a:cubicBezTo>
                  <a:pt x="40" y="89"/>
                  <a:pt x="40" y="89"/>
                  <a:pt x="40" y="89"/>
                </a:cubicBezTo>
                <a:cubicBezTo>
                  <a:pt x="66" y="89"/>
                  <a:pt x="66" y="89"/>
                  <a:pt x="66" y="89"/>
                </a:cubicBezTo>
                <a:cubicBezTo>
                  <a:pt x="59" y="113"/>
                  <a:pt x="59" y="113"/>
                  <a:pt x="59" y="113"/>
                </a:cubicBezTo>
                <a:cubicBezTo>
                  <a:pt x="74" y="113"/>
                  <a:pt x="74" y="113"/>
                  <a:pt x="74" y="113"/>
                </a:cubicBezTo>
                <a:cubicBezTo>
                  <a:pt x="81" y="89"/>
                  <a:pt x="81" y="89"/>
                  <a:pt x="81" y="89"/>
                </a:cubicBezTo>
                <a:cubicBezTo>
                  <a:pt x="85" y="89"/>
                  <a:pt x="85" y="89"/>
                  <a:pt x="85" y="89"/>
                </a:cubicBezTo>
                <a:cubicBezTo>
                  <a:pt x="85" y="89"/>
                  <a:pt x="85" y="89"/>
                  <a:pt x="85" y="89"/>
                </a:cubicBezTo>
                <a:cubicBezTo>
                  <a:pt x="90" y="89"/>
                  <a:pt x="90" y="89"/>
                  <a:pt x="90" y="89"/>
                </a:cubicBezTo>
                <a:cubicBezTo>
                  <a:pt x="90" y="89"/>
                  <a:pt x="90" y="89"/>
                  <a:pt x="90" y="89"/>
                </a:cubicBezTo>
                <a:cubicBezTo>
                  <a:pt x="119" y="89"/>
                  <a:pt x="119" y="89"/>
                  <a:pt x="119" y="89"/>
                </a:cubicBezTo>
                <a:cubicBezTo>
                  <a:pt x="112" y="113"/>
                  <a:pt x="112" y="113"/>
                  <a:pt x="112" y="113"/>
                </a:cubicBezTo>
                <a:cubicBezTo>
                  <a:pt x="128" y="113"/>
                  <a:pt x="128" y="113"/>
                  <a:pt x="128" y="113"/>
                </a:cubicBezTo>
                <a:cubicBezTo>
                  <a:pt x="135" y="89"/>
                  <a:pt x="135" y="89"/>
                  <a:pt x="135" y="89"/>
                </a:cubicBezTo>
                <a:cubicBezTo>
                  <a:pt x="142" y="89"/>
                  <a:pt x="142" y="89"/>
                  <a:pt x="142" y="89"/>
                </a:cubicBezTo>
                <a:cubicBezTo>
                  <a:pt x="142" y="113"/>
                  <a:pt x="142" y="113"/>
                  <a:pt x="142" y="113"/>
                </a:cubicBezTo>
                <a:cubicBezTo>
                  <a:pt x="155" y="113"/>
                  <a:pt x="155" y="113"/>
                  <a:pt x="155" y="113"/>
                </a:cubicBezTo>
                <a:cubicBezTo>
                  <a:pt x="170" y="89"/>
                  <a:pt x="170" y="89"/>
                  <a:pt x="170" y="89"/>
                </a:cubicBezTo>
                <a:cubicBezTo>
                  <a:pt x="180" y="89"/>
                  <a:pt x="180" y="89"/>
                  <a:pt x="180" y="89"/>
                </a:cubicBezTo>
                <a:cubicBezTo>
                  <a:pt x="175" y="113"/>
                  <a:pt x="175" y="113"/>
                  <a:pt x="175" y="113"/>
                </a:cubicBezTo>
                <a:cubicBezTo>
                  <a:pt x="190" y="113"/>
                  <a:pt x="190" y="113"/>
                  <a:pt x="190" y="113"/>
                </a:cubicBezTo>
                <a:cubicBezTo>
                  <a:pt x="195" y="89"/>
                  <a:pt x="195" y="89"/>
                  <a:pt x="195" y="89"/>
                </a:cubicBezTo>
                <a:cubicBezTo>
                  <a:pt x="204" y="89"/>
                  <a:pt x="204" y="89"/>
                  <a:pt x="204" y="89"/>
                </a:cubicBezTo>
                <a:cubicBezTo>
                  <a:pt x="203" y="96"/>
                  <a:pt x="205" y="103"/>
                  <a:pt x="210" y="108"/>
                </a:cubicBezTo>
                <a:cubicBezTo>
                  <a:pt x="216" y="113"/>
                  <a:pt x="225" y="114"/>
                  <a:pt x="232" y="114"/>
                </a:cubicBezTo>
                <a:cubicBezTo>
                  <a:pt x="241" y="114"/>
                  <a:pt x="251" y="113"/>
                  <a:pt x="260" y="111"/>
                </a:cubicBezTo>
                <a:cubicBezTo>
                  <a:pt x="266" y="89"/>
                  <a:pt x="266" y="89"/>
                  <a:pt x="266" y="89"/>
                </a:cubicBezTo>
                <a:cubicBezTo>
                  <a:pt x="283" y="89"/>
                  <a:pt x="283" y="89"/>
                  <a:pt x="283" y="89"/>
                </a:cubicBezTo>
                <a:cubicBezTo>
                  <a:pt x="283" y="0"/>
                  <a:pt x="283" y="0"/>
                  <a:pt x="283" y="0"/>
                </a:cubicBezTo>
                <a:cubicBezTo>
                  <a:pt x="220" y="0"/>
                  <a:pt x="220" y="0"/>
                  <a:pt x="220" y="0"/>
                </a:cubicBezTo>
                <a:cubicBezTo>
                  <a:pt x="220" y="0"/>
                  <a:pt x="220" y="0"/>
                  <a:pt x="22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 sz="1800" dirty="0"/>
          </a:p>
        </p:txBody>
      </p:sp>
      <p:sp>
        <p:nvSpPr>
          <p:cNvPr id="5" name="TextBox 29">
            <a:extLst>
              <a:ext uri="{FF2B5EF4-FFF2-40B4-BE49-F238E27FC236}">
                <a16:creationId xmlns:a16="http://schemas.microsoft.com/office/drawing/2014/main" id="{0F726219-FE3D-3F79-CF8E-4C775F4624E7}"/>
              </a:ext>
            </a:extLst>
          </p:cNvPr>
          <p:cNvSpPr txBox="1"/>
          <p:nvPr userDrawn="1">
            <p:custDataLst>
              <p:tags r:id="rId7"/>
            </p:custDataLst>
          </p:nvPr>
        </p:nvSpPr>
        <p:spPr>
          <a:xfrm>
            <a:off x="1808382" y="6274627"/>
            <a:ext cx="5252061" cy="3708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600" kern="1200" noProof="0" dirty="0">
                <a:solidFill>
                  <a:schemeClr val="bg1">
                    <a:lumMod val="65000"/>
                  </a:schemeClr>
                </a:solidFill>
                <a:effectLst/>
                <a:latin typeface="Arial" panose="020B0604020202020204" pitchFamily="34" charset="0"/>
                <a:ea typeface="DengXian" panose="02010600030101010101" pitchFamily="2" charset="-122"/>
                <a:cs typeface="Arial" panose="020B0604020202020204" pitchFamily="34" charset="0"/>
              </a:rPr>
              <a:t>© 2026 KPMG </a:t>
            </a:r>
            <a:r>
              <a:rPr lang="en-GB" sz="600" kern="1200" noProof="0" dirty="0" err="1">
                <a:solidFill>
                  <a:schemeClr val="bg1">
                    <a:lumMod val="65000"/>
                  </a:schemeClr>
                </a:solidFill>
                <a:effectLst/>
                <a:latin typeface="Arial" panose="020B0604020202020204" pitchFamily="34" charset="0"/>
                <a:ea typeface="DengXian" panose="02010600030101010101" pitchFamily="2" charset="-122"/>
                <a:cs typeface="Arial" panose="020B0604020202020204" pitchFamily="34" charset="0"/>
              </a:rPr>
              <a:t>Huazhen</a:t>
            </a:r>
            <a:r>
              <a:rPr lang="en-GB" sz="600" kern="1200" noProof="0" dirty="0">
                <a:solidFill>
                  <a:schemeClr val="bg1">
                    <a:lumMod val="65000"/>
                  </a:schemeClr>
                </a:solidFill>
                <a:effectLst/>
                <a:latin typeface="Arial" panose="020B0604020202020204" pitchFamily="34" charset="0"/>
                <a:ea typeface="DengXian" panose="02010600030101010101" pitchFamily="2" charset="-122"/>
                <a:cs typeface="Arial" panose="020B0604020202020204" pitchFamily="34" charset="0"/>
              </a:rPr>
              <a:t> LLP, a People's Republic of China partnership, KPMG Advisory (China) Limited, a limited liability company in Chinese Mainland, KPMG, a Macao SAR partnership, and KPMG, a Hong Kong SAR partnership, are member firms of the KPMG global organisation of independent member firms affiliated with KPMG International Limited, a private English company limited by guarantee.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12810854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1" r:id="rId1"/>
    <p:sldLayoutId id="2147483676" r:id="rId2"/>
    <p:sldLayoutId id="2147483677" r:id="rId3"/>
    <p:sldLayoutId id="2147483683" r:id="rId4"/>
    <p:sldLayoutId id="2147483663" r:id="rId5"/>
  </p:sldLayoutIdLst>
  <p:txStyles>
    <p:titleStyle>
      <a:lvl1pPr algn="l" defTabSz="914377" rtl="0" eaLnBrk="1" latinLnBrk="0" hangingPunct="1">
        <a:lnSpc>
          <a:spcPct val="70000"/>
        </a:lnSpc>
        <a:spcBef>
          <a:spcPct val="0"/>
        </a:spcBef>
        <a:buNone/>
        <a:defRPr sz="4400" kern="1200">
          <a:solidFill>
            <a:schemeClr val="accent2"/>
          </a:solidFill>
          <a:latin typeface="+mj-lt"/>
          <a:ea typeface="+mj-ea"/>
          <a:cs typeface="+mj-cs"/>
        </a:defRPr>
      </a:lvl1pPr>
    </p:titleStyle>
    <p:bodyStyle>
      <a:lvl1pPr marL="0" indent="0" algn="l" defTabSz="914377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Tx/>
        <a:buNone/>
        <a:defRPr sz="1500" b="1" kern="1200">
          <a:solidFill>
            <a:schemeClr val="accent2"/>
          </a:solidFill>
          <a:latin typeface="+mn-lt"/>
          <a:ea typeface="+mn-ea"/>
          <a:cs typeface="+mn-cs"/>
        </a:defRPr>
      </a:lvl1pPr>
      <a:lvl2pPr marL="0" indent="0" algn="l" defTabSz="914377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Tx/>
        <a:buNone/>
        <a:defRPr sz="1500" kern="1200">
          <a:solidFill>
            <a:schemeClr val="accent2"/>
          </a:solidFill>
          <a:latin typeface="+mn-lt"/>
          <a:ea typeface="+mn-ea"/>
          <a:cs typeface="+mn-cs"/>
        </a:defRPr>
      </a:lvl2pPr>
      <a:lvl3pPr marL="180970" indent="-180970" algn="l" defTabSz="914377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Tx/>
        <a:buFont typeface="Arial" panose="020B0604020202020204" pitchFamily="34" charset="0"/>
        <a:buChar char="•"/>
        <a:defRPr sz="1500" kern="1200">
          <a:solidFill>
            <a:schemeClr val="accent2"/>
          </a:solidFill>
          <a:latin typeface="+mn-lt"/>
          <a:ea typeface="+mn-ea"/>
          <a:cs typeface="+mn-cs"/>
        </a:defRPr>
      </a:lvl3pPr>
      <a:lvl4pPr marL="361942" indent="-180970" algn="l" defTabSz="914377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Tx/>
        <a:buFont typeface="Arial" panose="020B0604020202020204" pitchFamily="34" charset="0"/>
        <a:buChar char="-"/>
        <a:defRPr sz="1500" kern="1200">
          <a:solidFill>
            <a:schemeClr val="accent2"/>
          </a:solidFill>
          <a:latin typeface="+mn-lt"/>
          <a:ea typeface="+mn-ea"/>
          <a:cs typeface="+mn-cs"/>
        </a:defRPr>
      </a:lvl4pPr>
      <a:lvl5pPr marL="542912" indent="-180970" algn="l" defTabSz="914377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Tx/>
        <a:buFont typeface="Arial" panose="020B0604020202020204" pitchFamily="34" charset="0"/>
        <a:buChar char="•"/>
        <a:defRPr sz="1500" kern="1200" baseline="0">
          <a:solidFill>
            <a:schemeClr val="accent2"/>
          </a:solidFill>
          <a:latin typeface="+mn-lt"/>
          <a:ea typeface="+mn-ea"/>
          <a:cs typeface="+mn-cs"/>
        </a:defRPr>
      </a:lvl5pPr>
      <a:lvl6pPr marL="719121" indent="-180970" algn="l" defTabSz="914377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>
          <a:schemeClr val="tx2"/>
        </a:buClr>
        <a:buFont typeface="Arial" panose="020B0604020202020204" pitchFamily="34" charset="0"/>
        <a:buChar char="-"/>
        <a:defRPr sz="1500" kern="1200">
          <a:solidFill>
            <a:schemeClr val="tx2"/>
          </a:solidFill>
          <a:latin typeface="+mn-lt"/>
          <a:ea typeface="+mn-ea"/>
          <a:cs typeface="+mn-cs"/>
        </a:defRPr>
      </a:lvl6pPr>
      <a:lvl7pPr marL="896916" indent="-177796" algn="l" defTabSz="914377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>
          <a:schemeClr val="tx2"/>
        </a:buClr>
        <a:buFont typeface="Arial" panose="020B0604020202020204" pitchFamily="34" charset="0"/>
        <a:buChar char="•"/>
        <a:defRPr sz="1500" kern="1200">
          <a:solidFill>
            <a:schemeClr val="tx2"/>
          </a:solidFill>
          <a:latin typeface="+mn-lt"/>
          <a:ea typeface="+mn-ea"/>
          <a:cs typeface="+mn-cs"/>
        </a:defRPr>
      </a:lvl7pPr>
      <a:lvl8pPr marL="1074712" indent="-177796" algn="l" defTabSz="914377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>
          <a:schemeClr val="tx2"/>
        </a:buClr>
        <a:buFont typeface="Arial" panose="020B0604020202020204" pitchFamily="34" charset="0"/>
        <a:buChar char="-"/>
        <a:defRPr sz="1500" kern="1200">
          <a:solidFill>
            <a:schemeClr val="tx2"/>
          </a:solidFill>
          <a:latin typeface="+mn-lt"/>
          <a:ea typeface="+mn-ea"/>
          <a:cs typeface="+mn-cs"/>
        </a:defRPr>
      </a:lvl8pPr>
      <a:lvl9pPr marL="1257269" indent="-182558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5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0585829D-68FF-325B-5826-AFF14786047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sz="4400" b="1" dirty="0" err="1"/>
              <a:t>LuminFlow</a:t>
            </a:r>
            <a:endParaRPr lang="en-GB" dirty="0"/>
          </a:p>
          <a:p>
            <a:pPr algn="ctr"/>
            <a:r>
              <a:rPr sz="2200" b="0" dirty="0"/>
              <a:t>AI-Driven Client Audit Visibility &amp; Sampling Transparency</a:t>
            </a:r>
          </a:p>
          <a:p>
            <a:pPr algn="ctr">
              <a:spcBef>
                <a:spcPts val="2400"/>
              </a:spcBef>
            </a:pPr>
            <a:r>
              <a:rPr sz="1600" b="0" dirty="0"/>
              <a:t>Global Audit Hackathon 2026 — Challenge 2 | June 2026</a:t>
            </a:r>
            <a:br>
              <a:rPr lang="en-US" sz="1600" b="0" dirty="0"/>
            </a:br>
            <a:br>
              <a:rPr lang="en-US" sz="1600" b="0" dirty="0"/>
            </a:br>
            <a:br>
              <a:rPr lang="en-US" sz="1600" b="0" dirty="0"/>
            </a:br>
            <a:r>
              <a:rPr lang="en-US" sz="1600" b="0" dirty="0"/>
              <a:t>C</a:t>
            </a:r>
            <a:r>
              <a:rPr lang="en-US" altLang="zh-CN" sz="1600" b="0" dirty="0"/>
              <a:t>hina Team 14</a:t>
            </a:r>
            <a:endParaRPr sz="1600" b="0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E5067775-40E1-E5B2-68BB-58788F8AB2A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998479" y="4752153"/>
            <a:ext cx="3040122" cy="810000"/>
          </a:xfrm>
        </p:spPr>
        <p:txBody>
          <a:bodyPr/>
          <a:lstStyle/>
          <a:p>
            <a:pPr algn="ctr"/>
            <a:r>
              <a:rPr sz="1400" b="0" dirty="0"/>
              <a:t>Transforming Fragmented Audit Updates into a Dynamic, Insight-Driven Experience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8424646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 dirty="0">
                <a:solidFill>
                  <a:srgbClr val="1B3A5C"/>
                </a:solidFill>
              </a:rPr>
              <a:t>Project Background &amp; Challenge Response</a:t>
            </a:r>
            <a:endParaRPr lang="en-GB" dirty="0"/>
          </a:p>
        </p:txBody>
      </p:sp>
      <p:sp>
        <p:nvSpPr>
          <p:cNvPr id="20" name="Subtitle"/>
          <p:cNvSpPr txBox="1"/>
          <p:nvPr/>
        </p:nvSpPr>
        <p:spPr>
          <a:xfrm>
            <a:off x="508000" y="1149350"/>
            <a:ext cx="11176000" cy="32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r>
              <a:rPr lang="en-US" sz="1200" b="0" i="1" dirty="0">
                <a:solidFill>
                  <a:srgbClr val="555555"/>
                </a:solidFill>
              </a:rPr>
              <a:t>Clients increasingly expect clear, timely, and meaningful visibility — a fundamental shift from passive compliance to active partnership.</a:t>
            </a:r>
          </a:p>
        </p:txBody>
      </p:sp>
      <p:sp>
        <p:nvSpPr>
          <p:cNvPr id="21" name="Pain Header Bar"/>
          <p:cNvSpPr/>
          <p:nvPr/>
        </p:nvSpPr>
        <p:spPr>
          <a:xfrm>
            <a:off x="508000" y="1620000"/>
            <a:ext cx="5410000" cy="420000"/>
          </a:xfrm>
          <a:prstGeom prst="rect">
            <a:avLst/>
          </a:prstGeom>
          <a:solidFill>
            <a:srgbClr val="C83C3C"/>
          </a:solidFill>
          <a:ln>
            <a:noFill/>
          </a:ln>
        </p:spPr>
        <p:txBody>
          <a:bodyPr wrap="square" lIns="180000" tIns="0" rIns="180000" bIns="0" anchor="ctr"/>
          <a:lstStyle/>
          <a:p>
            <a:r>
              <a:rPr lang="en-US" sz="1400" b="1" dirty="0">
                <a:solidFill>
                  <a:srgbClr val="FFFFFF"/>
                </a:solidFill>
              </a:rPr>
              <a:t>THE CHALLENGE  |  Audit Communication Pain Points</a:t>
            </a:r>
          </a:p>
        </p:txBody>
      </p:sp>
      <p:sp>
        <p:nvSpPr>
          <p:cNvPr id="22" name="Solution Header Bar"/>
          <p:cNvSpPr/>
          <p:nvPr/>
        </p:nvSpPr>
        <p:spPr>
          <a:xfrm>
            <a:off x="6274000" y="1620000"/>
            <a:ext cx="5410000" cy="42000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txBody>
          <a:bodyPr wrap="square" lIns="180000" tIns="0" rIns="180000" bIns="0" anchor="ctr"/>
          <a:lstStyle/>
          <a:p>
            <a:r>
              <a:rPr lang="en-US" sz="1400" b="1" dirty="0">
                <a:solidFill>
                  <a:srgbClr val="FFFFFF"/>
                </a:solidFill>
              </a:rPr>
              <a:t>OUR SOLUTION  |  LuminFlow Addresses 6 Priorities</a:t>
            </a:r>
          </a:p>
        </p:txBody>
      </p:sp>
      <p:sp>
        <p:nvSpPr>
          <p:cNvPr id="23" name="Pain Body"/>
          <p:cNvSpPr txBox="1"/>
          <p:nvPr/>
        </p:nvSpPr>
        <p:spPr>
          <a:xfrm>
            <a:off x="508000" y="2040000"/>
            <a:ext cx="5410000" cy="3986331"/>
          </a:xfrm>
          <a:prstGeom prst="rect">
            <a:avLst/>
          </a:prstGeom>
          <a:solidFill>
            <a:srgbClr val="FBEEEE"/>
          </a:solidFill>
          <a:ln w="6350">
            <a:solidFill>
              <a:srgbClr val="C83C3C"/>
            </a:solidFill>
          </a:ln>
        </p:spPr>
        <p:txBody>
          <a:bodyPr wrap="square" lIns="252000" tIns="216000" rIns="252000" bIns="216000" anchor="t"/>
          <a:lstStyle/>
          <a:p>
            <a:pPr>
              <a:spcAft>
                <a:spcPts val="600"/>
              </a:spcAft>
            </a:pPr>
            <a:r>
              <a:rPr lang="en-US" sz="1100" b="1" dirty="0">
                <a:solidFill>
                  <a:srgbClr val="C83C3C"/>
                </a:solidFill>
              </a:rPr>
              <a:t>1.  Fragmentation</a:t>
            </a:r>
          </a:p>
          <a:p>
            <a:pPr marL="180000" indent="-180000">
              <a:spcAft>
                <a:spcPts val="900"/>
              </a:spcAft>
            </a:pPr>
            <a:r>
              <a:rPr lang="en-US" sz="1050" b="0" dirty="0">
                <a:solidFill>
                  <a:srgbClr val="333333"/>
                </a:solidFill>
              </a:rPr>
              <a:t>Information spread across multiple media and disparate channels</a:t>
            </a:r>
          </a:p>
          <a:p>
            <a:pPr>
              <a:spcAft>
                <a:spcPts val="600"/>
              </a:spcAft>
            </a:pPr>
            <a:r>
              <a:rPr lang="en-US" sz="1100" b="1" dirty="0">
                <a:solidFill>
                  <a:srgbClr val="C83C3C"/>
                </a:solidFill>
              </a:rPr>
              <a:t>2.  Reactive Surprises</a:t>
            </a:r>
          </a:p>
          <a:p>
            <a:pPr marL="180000" indent="-180000">
              <a:spcAft>
                <a:spcPts val="900"/>
              </a:spcAft>
            </a:pPr>
            <a:r>
              <a:rPr lang="en-US" sz="1050" b="0" dirty="0">
                <a:solidFill>
                  <a:srgbClr val="333333"/>
                </a:solidFill>
              </a:rPr>
              <a:t>Updates arrive too late to prevent wider downstream impact</a:t>
            </a:r>
          </a:p>
          <a:p>
            <a:pPr>
              <a:spcAft>
                <a:spcPts val="600"/>
              </a:spcAft>
            </a:pPr>
            <a:r>
              <a:rPr lang="en-US" sz="1100" b="1" dirty="0">
                <a:solidFill>
                  <a:srgbClr val="C83C3C"/>
                </a:solidFill>
              </a:rPr>
              <a:t>3.  Black-Box Sampling</a:t>
            </a:r>
          </a:p>
          <a:p>
            <a:pPr marL="180000" indent="-180000">
              <a:spcAft>
                <a:spcPts val="900"/>
              </a:spcAft>
            </a:pPr>
            <a:r>
              <a:rPr lang="en-US" sz="1050" b="0" dirty="0">
                <a:solidFill>
                  <a:srgbClr val="333333"/>
                </a:solidFill>
              </a:rPr>
              <a:t>Limited transparency and context hinder understanding of progress &amp; delays</a:t>
            </a:r>
          </a:p>
          <a:p>
            <a:pPr>
              <a:spcAft>
                <a:spcPts val="600"/>
              </a:spcAft>
            </a:pPr>
            <a:r>
              <a:rPr lang="en-US" sz="1100" b="1" dirty="0">
                <a:solidFill>
                  <a:srgbClr val="C83C3C"/>
                </a:solidFill>
              </a:rPr>
              <a:t>4.  Disconnected View</a:t>
            </a:r>
          </a:p>
          <a:p>
            <a:pPr marL="180000" indent="-180000">
              <a:spcAft>
                <a:spcPts val="600"/>
              </a:spcAft>
            </a:pPr>
            <a:r>
              <a:rPr lang="en-US" sz="1050" b="0" dirty="0">
                <a:solidFill>
                  <a:srgbClr val="333333"/>
                </a:solidFill>
              </a:rPr>
              <a:t>No unified view linking objectives, risks, controls, testing, and reporting</a:t>
            </a:r>
          </a:p>
        </p:txBody>
      </p:sp>
      <p:sp>
        <p:nvSpPr>
          <p:cNvPr id="24" name="Solution Body"/>
          <p:cNvSpPr txBox="1"/>
          <p:nvPr/>
        </p:nvSpPr>
        <p:spPr>
          <a:xfrm>
            <a:off x="6274000" y="2040000"/>
            <a:ext cx="5410000" cy="3986331"/>
          </a:xfrm>
          <a:prstGeom prst="rect">
            <a:avLst/>
          </a:prstGeom>
          <a:solidFill>
            <a:srgbClr val="EAF1F8"/>
          </a:solidFill>
          <a:ln w="6350">
            <a:solidFill>
              <a:srgbClr val="1B3A5C"/>
            </a:solidFill>
          </a:ln>
        </p:spPr>
        <p:txBody>
          <a:bodyPr wrap="square" lIns="252000" tIns="216000" rIns="252000" bIns="216000" anchor="t"/>
          <a:lstStyle/>
          <a:p>
            <a:pPr marL="288000" indent="-288000">
              <a:spcAft>
                <a:spcPts val="600"/>
              </a:spcAft>
            </a:pPr>
            <a:r>
              <a:rPr lang="en-US" sz="1050" b="1" dirty="0">
                <a:solidFill>
                  <a:srgbClr val="1B3A5C"/>
                </a:solidFill>
              </a:rPr>
              <a:t>P1   Integrated Visualization Framework  </a:t>
            </a:r>
            <a:r>
              <a:rPr lang="en-US" sz="1000" b="0" dirty="0">
                <a:solidFill>
                  <a:srgbClr val="333333"/>
                </a:solidFill>
              </a:rPr>
              <a:t>connecting risks, controls, testing &amp; reporting to objectives</a:t>
            </a:r>
          </a:p>
          <a:p>
            <a:pPr marL="288000" indent="-288000">
              <a:spcAft>
                <a:spcPts val="600"/>
              </a:spcAft>
            </a:pPr>
            <a:r>
              <a:rPr lang="en-US" sz="1050" b="1" dirty="0">
                <a:solidFill>
                  <a:srgbClr val="1B3A5C"/>
                </a:solidFill>
              </a:rPr>
              <a:t>P2   Pre-Request Visibility  </a:t>
            </a:r>
            <a:r>
              <a:rPr lang="en-US" sz="1000" b="0" dirty="0">
                <a:solidFill>
                  <a:srgbClr val="333333"/>
                </a:solidFill>
              </a:rPr>
              <a:t>SampleLens shows size ranges (x-y) BEFORE selection, with doc-type predictions</a:t>
            </a:r>
          </a:p>
          <a:p>
            <a:pPr marL="288000" indent="-288000">
              <a:spcAft>
                <a:spcPts val="600"/>
              </a:spcAft>
            </a:pPr>
            <a:r>
              <a:rPr lang="en-US" sz="1050" b="1" dirty="0">
                <a:solidFill>
                  <a:srgbClr val="1B3A5C"/>
                </a:solidFill>
              </a:rPr>
              <a:t>P3   Comprehensive KPI Integration  </a:t>
            </a:r>
            <a:r>
              <a:rPr lang="en-US" sz="1000" b="0" dirty="0">
                <a:solidFill>
                  <a:srgbClr val="333333"/>
                </a:solidFill>
              </a:rPr>
              <a:t>dashboard aggregates KPIs, heatmaps, status, and activity timeline</a:t>
            </a:r>
          </a:p>
          <a:p>
            <a:pPr marL="288000" indent="-288000">
              <a:spcAft>
                <a:spcPts val="600"/>
              </a:spcAft>
            </a:pPr>
            <a:r>
              <a:rPr lang="en-US" sz="1050" b="1" dirty="0">
                <a:solidFill>
                  <a:srgbClr val="1B3A5C"/>
                </a:solidFill>
              </a:rPr>
              <a:t>P4   Dual Progress Visualization  </a:t>
            </a:r>
            <a:r>
              <a:rPr lang="en-US" sz="1000" b="0" dirty="0">
                <a:solidFill>
                  <a:srgbClr val="333333"/>
                </a:solidFill>
              </a:rPr>
              <a:t>tracks auditor lifecycle AND client PBC submissions with overdue alerts</a:t>
            </a:r>
          </a:p>
          <a:p>
            <a:pPr marL="288000" indent="-288000">
              <a:spcAft>
                <a:spcPts val="600"/>
              </a:spcAft>
            </a:pPr>
            <a:r>
              <a:rPr lang="en-US" sz="1050" b="1" dirty="0">
                <a:solidFill>
                  <a:srgbClr val="1B3A5C"/>
                </a:solidFill>
              </a:rPr>
              <a:t>P5   Impact Analysis Engine  </a:t>
            </a:r>
            <a:r>
              <a:rPr lang="en-US" sz="1000" b="0" dirty="0">
                <a:solidFill>
                  <a:srgbClr val="333333"/>
                </a:solidFill>
              </a:rPr>
              <a:t>ImpactSimulator quantifies COSO ripple effects with mitigation strategies</a:t>
            </a:r>
          </a:p>
          <a:p>
            <a:pPr marL="288000" indent="-288000">
              <a:spcAft>
                <a:spcPts val="600"/>
              </a:spcAft>
            </a:pPr>
            <a:r>
              <a:rPr lang="en-US" sz="1050" b="1" dirty="0">
                <a:solidFill>
                  <a:srgbClr val="1B3A5C"/>
                </a:solidFill>
              </a:rPr>
              <a:t>P6   Role-Based Visibility Control  </a:t>
            </a:r>
            <a:r>
              <a:rPr lang="en-US" sz="1000" b="0" dirty="0">
                <a:solidFill>
                  <a:srgbClr val="333333"/>
                </a:solidFill>
              </a:rPr>
              <a:t>VisibilityPanel governs Partner / CFO / Auditor / Finance Clerk views</a:t>
            </a:r>
          </a:p>
        </p:txBody>
      </p:sp>
    </p:spTree>
    <p:extLst>
      <p:ext uri="{BB962C8B-B14F-4D97-AF65-F5344CB8AC3E}">
        <p14:creationId xmlns:p14="http://schemas.microsoft.com/office/powerpoint/2010/main" val="17332266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 dirty="0">
                <a:solidFill>
                  <a:srgbClr val="1B3A5C"/>
                </a:solidFill>
              </a:rPr>
              <a:t>Visualization Framework &amp; AI Pipelines</a:t>
            </a:r>
            <a:endParaRPr lang="en-GB"/>
          </a:p>
        </p:txBody>
      </p:sp>
      <p:sp>
        <p:nvSpPr>
          <p:cNvPr id="30" name="Subtitle"/>
          <p:cNvSpPr txBox="1"/>
          <p:nvPr/>
        </p:nvSpPr>
        <p:spPr>
          <a:xfrm>
            <a:off x="508000" y="1149350"/>
            <a:ext cx="11176000" cy="32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r>
              <a:rPr lang="en-US" sz="1200" b="0" i="1" dirty="0">
                <a:solidFill>
                  <a:srgbClr val="555555"/>
                </a:solidFill>
              </a:rPr>
              <a:t>Three-phase audit lifecycle architecture, with purpose-built tools at every stage and four AI engines powering the experience.</a:t>
            </a:r>
          </a:p>
        </p:txBody>
      </p:sp>
      <p:sp>
        <p:nvSpPr>
          <p:cNvPr id="31" name="Timeline Track"/>
          <p:cNvSpPr/>
          <p:nvPr/>
        </p:nvSpPr>
        <p:spPr>
          <a:xfrm>
            <a:off x="1600000" y="2150000"/>
            <a:ext cx="8992000" cy="4000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wrap="square" lIns="0" tIns="0" rIns="0" bIns="0"/>
          <a:lstStyle/>
          <a:p>
            <a:endParaRPr lang="en-US"/>
          </a:p>
        </p:txBody>
      </p:sp>
      <p:sp>
        <p:nvSpPr>
          <p:cNvPr id="32" name="Phase 1 Dot"/>
          <p:cNvSpPr/>
          <p:nvPr/>
        </p:nvSpPr>
        <p:spPr>
          <a:xfrm>
            <a:off x="1980000" y="2050000"/>
            <a:ext cx="240000" cy="240000"/>
          </a:xfrm>
          <a:prstGeom prst="ellipse">
            <a:avLst/>
          </a:prstGeom>
          <a:solidFill>
            <a:srgbClr val="2B5A9C"/>
          </a:solidFill>
          <a:ln w="25400">
            <a:solidFill>
              <a:srgbClr val="FFFFFF"/>
            </a:solidFill>
          </a:ln>
        </p:spPr>
        <p:txBody>
          <a:bodyPr wrap="square" lIns="0" tIns="0" rIns="0" bIns="0"/>
          <a:lstStyle/>
          <a:p>
            <a:endParaRPr lang="en-US"/>
          </a:p>
        </p:txBody>
      </p:sp>
      <p:sp>
        <p:nvSpPr>
          <p:cNvPr id="33" name="Phase 2 Dot"/>
          <p:cNvSpPr/>
          <p:nvPr/>
        </p:nvSpPr>
        <p:spPr>
          <a:xfrm>
            <a:off x="5976000" y="2050000"/>
            <a:ext cx="240000" cy="240000"/>
          </a:xfrm>
          <a:prstGeom prst="ellipse">
            <a:avLst/>
          </a:prstGeom>
          <a:solidFill>
            <a:srgbClr val="277884"/>
          </a:solidFill>
          <a:ln w="25400">
            <a:solidFill>
              <a:srgbClr val="FFFFFF"/>
            </a:solidFill>
          </a:ln>
        </p:spPr>
        <p:txBody>
          <a:bodyPr wrap="square" lIns="0" tIns="0" rIns="0" bIns="0"/>
          <a:lstStyle/>
          <a:p>
            <a:endParaRPr lang="en-US"/>
          </a:p>
        </p:txBody>
      </p:sp>
      <p:sp>
        <p:nvSpPr>
          <p:cNvPr id="34" name="Phase 3 Dot"/>
          <p:cNvSpPr/>
          <p:nvPr/>
        </p:nvSpPr>
        <p:spPr>
          <a:xfrm>
            <a:off x="9972000" y="2050000"/>
            <a:ext cx="240000" cy="240000"/>
          </a:xfrm>
          <a:prstGeom prst="ellipse">
            <a:avLst/>
          </a:prstGeom>
          <a:solidFill>
            <a:srgbClr val="9C4F2B"/>
          </a:solidFill>
          <a:ln w="25400">
            <a:solidFill>
              <a:srgbClr val="FFFFFF"/>
            </a:solidFill>
          </a:ln>
        </p:spPr>
        <p:txBody>
          <a:bodyPr wrap="square" lIns="0" tIns="0" rIns="0" bIns="0"/>
          <a:lstStyle/>
          <a:p>
            <a:endParaRPr lang="en-US"/>
          </a:p>
        </p:txBody>
      </p:sp>
      <p:sp>
        <p:nvSpPr>
          <p:cNvPr id="35" name="Phase 1 Card"/>
          <p:cNvSpPr txBox="1"/>
          <p:nvPr/>
        </p:nvSpPr>
        <p:spPr>
          <a:xfrm>
            <a:off x="700000" y="2400000"/>
            <a:ext cx="3540000" cy="1750000"/>
          </a:xfrm>
          <a:prstGeom prst="rect">
            <a:avLst/>
          </a:prstGeom>
          <a:solidFill>
            <a:srgbClr val="FFFFFF"/>
          </a:solidFill>
          <a:ln w="9525">
            <a:solidFill>
              <a:srgbClr val="2B5A9C"/>
            </a:solidFill>
          </a:ln>
        </p:spPr>
        <p:txBody>
          <a:bodyPr wrap="square" lIns="216000" tIns="180000" rIns="180000" bIns="180000" anchor="t"/>
          <a:lstStyle/>
          <a:p>
            <a:pPr>
              <a:spcAft>
                <a:spcPts val="200"/>
              </a:spcAft>
            </a:pPr>
            <a:r>
              <a:rPr lang="en-US" sz="1000" b="1" dirty="0">
                <a:solidFill>
                  <a:srgbClr val="2B5A9C"/>
                </a:solidFill>
              </a:rPr>
              <a:t>PHASE 1</a:t>
            </a:r>
          </a:p>
          <a:p>
            <a:pPr>
              <a:spcAft>
                <a:spcPts val="600"/>
              </a:spcAft>
            </a:pPr>
            <a:r>
              <a:rPr lang="en-US" sz="1500" b="1" dirty="0">
                <a:solidFill>
                  <a:srgbClr val="1B3A5C"/>
                </a:solidFill>
              </a:rPr>
              <a:t>PLANNING</a:t>
            </a:r>
          </a:p>
          <a:p>
            <a:pPr marL="180000" indent="-180000">
              <a:spcAft>
                <a:spcPts val="400"/>
              </a:spcAft>
            </a:pPr>
            <a:r>
              <a:rPr lang="en-US" sz="1000" b="1" dirty="0">
                <a:solidFill>
                  <a:srgbClr val="333333"/>
                </a:solidFill>
              </a:rPr>
              <a:t>TraceMap </a:t>
            </a:r>
            <a:r>
              <a:rPr lang="en-US" sz="950" b="0" dirty="0">
                <a:solidFill>
                  <a:srgbClr val="555555"/>
                </a:solidFill>
              </a:rPr>
              <a:t>Full-linkage objective-to-procedure relationships</a:t>
            </a:r>
          </a:p>
          <a:p>
            <a:pPr marL="180000" indent="-180000">
              <a:spcAft>
                <a:spcPts val="200"/>
              </a:spcAft>
            </a:pPr>
            <a:r>
              <a:rPr lang="en-US" sz="1000" b="1" dirty="0">
                <a:solidFill>
                  <a:srgbClr val="333333"/>
                </a:solidFill>
              </a:rPr>
              <a:t>HeatLens </a:t>
            </a:r>
            <a:r>
              <a:rPr lang="en-US" sz="950" b="0" dirty="0">
                <a:solidFill>
                  <a:srgbClr val="555555"/>
                </a:solidFill>
              </a:rPr>
              <a:t>Risk heatmap with COSO five-dimension scoring</a:t>
            </a:r>
          </a:p>
        </p:txBody>
      </p:sp>
      <p:sp>
        <p:nvSpPr>
          <p:cNvPr id="36" name="Phase 2 Card"/>
          <p:cNvSpPr txBox="1"/>
          <p:nvPr/>
        </p:nvSpPr>
        <p:spPr>
          <a:xfrm>
            <a:off x="4326000" y="2400000"/>
            <a:ext cx="3540000" cy="1750000"/>
          </a:xfrm>
          <a:prstGeom prst="rect">
            <a:avLst/>
          </a:prstGeom>
          <a:solidFill>
            <a:srgbClr val="FFFFFF"/>
          </a:solidFill>
          <a:ln w="9525">
            <a:solidFill>
              <a:srgbClr val="277884"/>
            </a:solidFill>
          </a:ln>
        </p:spPr>
        <p:txBody>
          <a:bodyPr wrap="square" lIns="216000" tIns="180000" rIns="180000" bIns="180000" anchor="t"/>
          <a:lstStyle/>
          <a:p>
            <a:pPr>
              <a:spcAft>
                <a:spcPts val="200"/>
              </a:spcAft>
            </a:pPr>
            <a:r>
              <a:rPr lang="en-US" sz="1000" b="1" dirty="0">
                <a:solidFill>
                  <a:srgbClr val="277884"/>
                </a:solidFill>
              </a:rPr>
              <a:t>PHASE 2</a:t>
            </a:r>
          </a:p>
          <a:p>
            <a:pPr>
              <a:spcAft>
                <a:spcPts val="600"/>
              </a:spcAft>
            </a:pPr>
            <a:r>
              <a:rPr lang="en-US" sz="1500" b="1" dirty="0">
                <a:solidFill>
                  <a:srgbClr val="1B3A5C"/>
                </a:solidFill>
              </a:rPr>
              <a:t>EXECUTION</a:t>
            </a:r>
          </a:p>
          <a:p>
            <a:pPr marL="180000" indent="-180000">
              <a:spcAft>
                <a:spcPts val="400"/>
              </a:spcAft>
            </a:pPr>
            <a:r>
              <a:rPr lang="en-US" sz="1000" b="1" dirty="0">
                <a:solidFill>
                  <a:srgbClr val="333333"/>
                </a:solidFill>
              </a:rPr>
              <a:t>SampleLens </a:t>
            </a:r>
            <a:r>
              <a:rPr lang="en-US" sz="950" b="0" dirty="0">
                <a:solidFill>
                  <a:srgbClr val="555555"/>
                </a:solidFill>
              </a:rPr>
              <a:t>AI sampling preview with size ranges &amp; methodology</a:t>
            </a:r>
          </a:p>
          <a:p>
            <a:pPr marL="180000" indent="-180000">
              <a:spcAft>
                <a:spcPts val="200"/>
              </a:spcAft>
            </a:pPr>
            <a:r>
              <a:rPr lang="en-US" sz="1000" b="1" dirty="0">
                <a:solidFill>
                  <a:srgbClr val="333333"/>
                </a:solidFill>
              </a:rPr>
              <a:t>PBCView </a:t>
            </a:r>
            <a:r>
              <a:rPr lang="en-US" sz="950" b="0" dirty="0">
                <a:solidFill>
                  <a:srgbClr val="555555"/>
                </a:solidFill>
              </a:rPr>
              <a:t>PBC tracking, overdue alerts, email automation</a:t>
            </a:r>
          </a:p>
        </p:txBody>
      </p:sp>
      <p:sp>
        <p:nvSpPr>
          <p:cNvPr id="37" name="Phase 3 Card"/>
          <p:cNvSpPr txBox="1"/>
          <p:nvPr/>
        </p:nvSpPr>
        <p:spPr>
          <a:xfrm>
            <a:off x="7952000" y="2400000"/>
            <a:ext cx="3540000" cy="1750000"/>
          </a:xfrm>
          <a:prstGeom prst="rect">
            <a:avLst/>
          </a:prstGeom>
          <a:solidFill>
            <a:srgbClr val="FFFFFF"/>
          </a:solidFill>
          <a:ln w="9525">
            <a:solidFill>
              <a:srgbClr val="9C4F2B"/>
            </a:solidFill>
          </a:ln>
        </p:spPr>
        <p:txBody>
          <a:bodyPr wrap="square" lIns="216000" tIns="180000" rIns="180000" bIns="180000" anchor="t"/>
          <a:lstStyle/>
          <a:p>
            <a:pPr>
              <a:spcAft>
                <a:spcPts val="200"/>
              </a:spcAft>
            </a:pPr>
            <a:r>
              <a:rPr lang="en-US" sz="1000" b="1" dirty="0">
                <a:solidFill>
                  <a:srgbClr val="9C4F2B"/>
                </a:solidFill>
              </a:rPr>
              <a:t>PHASE 3</a:t>
            </a:r>
          </a:p>
          <a:p>
            <a:pPr>
              <a:spcAft>
                <a:spcPts val="600"/>
              </a:spcAft>
            </a:pPr>
            <a:r>
              <a:rPr lang="en-US" sz="1500" b="1" dirty="0">
                <a:solidFill>
                  <a:srgbClr val="1B3A5C"/>
                </a:solidFill>
              </a:rPr>
              <a:t>EVALUATION &amp; COMM.</a:t>
            </a:r>
          </a:p>
          <a:p>
            <a:pPr marL="180000" indent="-180000">
              <a:spcAft>
                <a:spcPts val="400"/>
              </a:spcAft>
            </a:pPr>
            <a:r>
              <a:rPr lang="en-US" sz="1000" b="1" dirty="0">
                <a:solidFill>
                  <a:srgbClr val="333333"/>
                </a:solidFill>
              </a:rPr>
              <a:t>NarrativeLens </a:t>
            </a:r>
            <a:r>
              <a:rPr lang="en-US" sz="950" b="0" dirty="0">
                <a:solidFill>
                  <a:srgbClr val="555555"/>
                </a:solidFill>
              </a:rPr>
              <a:t>Audience-adapted narratives for CFO/IA/IT</a:t>
            </a:r>
          </a:p>
          <a:p>
            <a:pPr marL="180000" indent="-180000">
              <a:spcAft>
                <a:spcPts val="200"/>
              </a:spcAft>
            </a:pPr>
            <a:r>
              <a:rPr lang="en-US" sz="1000" b="1" dirty="0">
                <a:solidFill>
                  <a:srgbClr val="333333"/>
                </a:solidFill>
              </a:rPr>
              <a:t>ImpactSimulator </a:t>
            </a:r>
            <a:r>
              <a:rPr lang="en-US" sz="950" b="0" dirty="0">
                <a:solidFill>
                  <a:srgbClr val="555555"/>
                </a:solidFill>
              </a:rPr>
              <a:t>BFS propagation, force-directed graph, before/after</a:t>
            </a:r>
          </a:p>
        </p:txBody>
      </p:sp>
      <p:sp>
        <p:nvSpPr>
          <p:cNvPr id="40" name="AI Pipelines Header"/>
          <p:cNvSpPr txBox="1"/>
          <p:nvPr/>
        </p:nvSpPr>
        <p:spPr>
          <a:xfrm>
            <a:off x="508000" y="4350000"/>
            <a:ext cx="11176000" cy="32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lang="en-US" sz="1300" b="1" dirty="0">
                <a:solidFill>
                  <a:srgbClr val="1B3A5C"/>
                </a:solidFill>
              </a:rPr>
              <a:t>Powered by 4 AI Pipelines  </a:t>
            </a:r>
            <a:r>
              <a:rPr lang="en-US" sz="1100" b="0" dirty="0">
                <a:solidFill>
                  <a:srgbClr val="555555"/>
                </a:solidFill>
              </a:rPr>
              <a:t>(structured prompts with mock fallback — zero-config demonstrations)</a:t>
            </a:r>
          </a:p>
        </p:txBody>
      </p:sp>
      <p:sp>
        <p:nvSpPr>
          <p:cNvPr id="41" name="AI 1"/>
          <p:cNvSpPr txBox="1"/>
          <p:nvPr/>
        </p:nvSpPr>
        <p:spPr>
          <a:xfrm>
            <a:off x="700000" y="4750000"/>
            <a:ext cx="2680000" cy="1450000"/>
          </a:xfrm>
          <a:prstGeom prst="rect">
            <a:avLst/>
          </a:prstGeom>
          <a:solidFill>
            <a:srgbClr val="EAF1F8"/>
          </a:solidFill>
          <a:ln>
            <a:noFill/>
          </a:ln>
        </p:spPr>
        <p:txBody>
          <a:bodyPr wrap="square" lIns="180000" tIns="144000" rIns="180000" bIns="144000" anchor="t"/>
          <a:lstStyle/>
          <a:p>
            <a:pPr>
              <a:spcAft>
                <a:spcPts val="400"/>
              </a:spcAft>
            </a:pPr>
            <a:r>
              <a:rPr lang="en-US" sz="1100" b="1" dirty="0">
                <a:solidFill>
                  <a:srgbClr val="2B5A9C"/>
                </a:solidFill>
              </a:rPr>
              <a:t>Risk Analyzer</a:t>
            </a:r>
          </a:p>
          <a:p>
            <a:r>
              <a:rPr lang="en-US" sz="950" b="0" dirty="0">
                <a:solidFill>
                  <a:srgbClr val="333333"/>
                </a:solidFill>
              </a:rPr>
              <a:t>COSO-based assessment with residual risk scoring across all 5 dimensions.</a:t>
            </a:r>
          </a:p>
        </p:txBody>
      </p:sp>
      <p:sp>
        <p:nvSpPr>
          <p:cNvPr id="42" name="AI 2"/>
          <p:cNvSpPr txBox="1"/>
          <p:nvPr/>
        </p:nvSpPr>
        <p:spPr>
          <a:xfrm>
            <a:off x="3504000" y="4750000"/>
            <a:ext cx="2680000" cy="1450000"/>
          </a:xfrm>
          <a:prstGeom prst="rect">
            <a:avLst/>
          </a:prstGeom>
          <a:solidFill>
            <a:srgbClr val="E1F0F2"/>
          </a:solidFill>
          <a:ln>
            <a:noFill/>
          </a:ln>
        </p:spPr>
        <p:txBody>
          <a:bodyPr wrap="square" lIns="180000" tIns="144000" rIns="180000" bIns="144000" anchor="t"/>
          <a:lstStyle/>
          <a:p>
            <a:pPr>
              <a:spcAft>
                <a:spcPts val="400"/>
              </a:spcAft>
            </a:pPr>
            <a:r>
              <a:rPr lang="en-US" sz="1100" b="1" dirty="0">
                <a:solidFill>
                  <a:srgbClr val="277884"/>
                </a:solidFill>
              </a:rPr>
              <a:t>Sample Recommender</a:t>
            </a:r>
          </a:p>
          <a:p>
            <a:r>
              <a:rPr lang="en-US" sz="950" b="0" dirty="0">
                <a:solidFill>
                  <a:srgbClr val="333333"/>
                </a:solidFill>
              </a:rPr>
              <a:t>AI-determined sample size ranges from control frequency &amp; risk levels.</a:t>
            </a:r>
          </a:p>
        </p:txBody>
      </p:sp>
      <p:sp>
        <p:nvSpPr>
          <p:cNvPr id="43" name="AI 3"/>
          <p:cNvSpPr txBox="1"/>
          <p:nvPr/>
        </p:nvSpPr>
        <p:spPr>
          <a:xfrm>
            <a:off x="6308000" y="4750000"/>
            <a:ext cx="2680000" cy="1450000"/>
          </a:xfrm>
          <a:prstGeom prst="rect">
            <a:avLst/>
          </a:prstGeom>
          <a:solidFill>
            <a:srgbClr val="F4E8DD"/>
          </a:solidFill>
          <a:ln>
            <a:noFill/>
          </a:ln>
        </p:spPr>
        <p:txBody>
          <a:bodyPr wrap="square" lIns="180000" tIns="144000" rIns="180000" bIns="144000" anchor="t"/>
          <a:lstStyle/>
          <a:p>
            <a:pPr>
              <a:spcAft>
                <a:spcPts val="400"/>
              </a:spcAft>
            </a:pPr>
            <a:r>
              <a:rPr lang="en-US" sz="1100" b="1" dirty="0">
                <a:solidFill>
                  <a:srgbClr val="9C4F2B"/>
                </a:solidFill>
              </a:rPr>
              <a:t>Impact Simulator</a:t>
            </a:r>
          </a:p>
          <a:p>
            <a:r>
              <a:rPr lang="en-US" sz="950" b="0" dirty="0">
                <a:solidFill>
                  <a:srgbClr val="333333"/>
                </a:solidFill>
              </a:rPr>
              <a:t>Models cascading consequences of delays &amp; deficiencies on COSO graph.</a:t>
            </a:r>
          </a:p>
        </p:txBody>
      </p:sp>
      <p:sp>
        <p:nvSpPr>
          <p:cNvPr id="44" name="AI 4"/>
          <p:cNvSpPr txBox="1"/>
          <p:nvPr/>
        </p:nvSpPr>
        <p:spPr>
          <a:xfrm>
            <a:off x="9112000" y="4750000"/>
            <a:ext cx="2680000" cy="1450000"/>
          </a:xfrm>
          <a:prstGeom prst="rect">
            <a:avLst/>
          </a:prstGeom>
          <a:solidFill>
            <a:srgbClr val="EFE9F4"/>
          </a:solidFill>
          <a:ln>
            <a:noFill/>
          </a:ln>
        </p:spPr>
        <p:txBody>
          <a:bodyPr wrap="square" lIns="180000" tIns="144000" rIns="180000" bIns="144000" anchor="t"/>
          <a:lstStyle/>
          <a:p>
            <a:pPr>
              <a:spcAft>
                <a:spcPts val="400"/>
              </a:spcAft>
            </a:pPr>
            <a:r>
              <a:rPr lang="en-US" sz="1100" b="1" dirty="0">
                <a:solidFill>
                  <a:srgbClr val="503C8C"/>
                </a:solidFill>
              </a:rPr>
              <a:t>Narrative Generator</a:t>
            </a:r>
          </a:p>
          <a:p>
            <a:r>
              <a:rPr lang="en-US" sz="950" b="0" dirty="0">
                <a:solidFill>
                  <a:srgbClr val="333333"/>
                </a:solidFill>
              </a:rPr>
              <a:t>Audience-adapted communications for CFO, audit director, and IT.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 dirty="0">
                <a:solidFill>
                  <a:srgbClr val="1B3A5C"/>
                </a:solidFill>
              </a:rPr>
              <a:t>Key Capabilities &amp; Design Rationale</a:t>
            </a:r>
            <a:endParaRPr lang="en-GB" dirty="0"/>
          </a:p>
        </p:txBody>
      </p:sp>
      <p:sp>
        <p:nvSpPr>
          <p:cNvPr id="50" name="Subtitle"/>
          <p:cNvSpPr txBox="1"/>
          <p:nvPr/>
        </p:nvSpPr>
        <p:spPr>
          <a:xfrm>
            <a:off x="508000" y="1149350"/>
            <a:ext cx="11176000" cy="28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r>
              <a:rPr lang="en-US" sz="1200" b="0" i="1" dirty="0">
                <a:solidFill>
                  <a:srgbClr val="555555"/>
                </a:solidFill>
              </a:rPr>
              <a:t>Four capability pillars (left) directly address Challenge 2 deliverables, anchored by five foundational assumptions (right).</a:t>
            </a:r>
          </a:p>
        </p:txBody>
      </p:sp>
      <p:sp>
        <p:nvSpPr>
          <p:cNvPr id="51" name="LeftHeader"/>
          <p:cNvSpPr txBox="1"/>
          <p:nvPr/>
        </p:nvSpPr>
        <p:spPr>
          <a:xfrm>
            <a:off x="508000" y="1500000"/>
            <a:ext cx="6700000" cy="32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r>
              <a:rPr lang="en-US" sz="1300" b="1" dirty="0">
                <a:solidFill>
                  <a:srgbClr val="1B3A5C"/>
                </a:solidFill>
              </a:rPr>
              <a:t>FOUR CAPABILITY PILLARS</a:t>
            </a:r>
          </a:p>
        </p:txBody>
      </p:sp>
      <p:sp>
        <p:nvSpPr>
          <p:cNvPr id="52" name="Cap1 Box"/>
          <p:cNvSpPr txBox="1"/>
          <p:nvPr/>
        </p:nvSpPr>
        <p:spPr>
          <a:xfrm>
            <a:off x="508000" y="1860000"/>
            <a:ext cx="3300000" cy="1900000"/>
          </a:xfrm>
          <a:prstGeom prst="rect">
            <a:avLst/>
          </a:prstGeom>
          <a:solidFill>
            <a:srgbClr val="FFFFFF"/>
          </a:solidFill>
          <a:ln w="9525">
            <a:solidFill>
              <a:srgbClr val="2B5A9C"/>
            </a:solidFill>
          </a:ln>
        </p:spPr>
        <p:txBody>
          <a:bodyPr wrap="square" lIns="180000" tIns="144000" rIns="180000" bIns="144000" anchor="t"/>
          <a:lstStyle/>
          <a:p>
            <a:pPr>
              <a:spcAft>
                <a:spcPts val="300"/>
              </a:spcAft>
            </a:pPr>
            <a:r>
              <a:rPr lang="en-US" sz="950" b="1" dirty="0">
                <a:solidFill>
                  <a:srgbClr val="2B5A9C"/>
                </a:solidFill>
              </a:rPr>
              <a:t>01</a:t>
            </a:r>
          </a:p>
          <a:p>
            <a:pPr>
              <a:spcAft>
                <a:spcPts val="400"/>
              </a:spcAft>
            </a:pPr>
            <a:r>
              <a:rPr lang="en-US" sz="1150" b="1" dirty="0">
                <a:solidFill>
                  <a:srgbClr val="1B3A5C"/>
                </a:solidFill>
              </a:rPr>
              <a:t>Objective-to-Evidence Traceability</a:t>
            </a:r>
          </a:p>
          <a:p>
            <a:pPr marL="160000" indent="-160000">
              <a:spcAft>
                <a:spcPts val="200"/>
              </a:spcAft>
            </a:pPr>
            <a:r>
              <a:rPr lang="en-US" sz="900" b="0" dirty="0">
                <a:solidFill>
                  <a:srgbClr val="333333"/>
                </a:solidFill>
              </a:rPr>
              <a:t>•  AuditTreeD3 interactive tree (objectives -&gt; risks -&gt; controls -&gt; tests)</a:t>
            </a:r>
          </a:p>
          <a:p>
            <a:pPr marL="160000" indent="-160000">
              <a:spcAft>
                <a:spcPts val="200"/>
              </a:spcAft>
            </a:pPr>
            <a:r>
              <a:rPr lang="en-US" sz="900" b="0" dirty="0">
                <a:solidFill>
                  <a:srgbClr val="333333"/>
                </a:solidFill>
              </a:rPr>
              <a:t>•  RadarChart: current vs. prior vs. industry benchmark</a:t>
            </a:r>
          </a:p>
          <a:p>
            <a:pPr marL="160000" indent="-160000">
              <a:spcAft>
                <a:spcPts val="200"/>
              </a:spcAft>
            </a:pPr>
            <a:r>
              <a:rPr lang="en-US" sz="900" b="0" dirty="0">
                <a:solidFill>
                  <a:srgbClr val="333333"/>
                </a:solidFill>
              </a:rPr>
              <a:t>•  DualProgress: auditor + client PBC submissions</a:t>
            </a:r>
          </a:p>
        </p:txBody>
      </p:sp>
      <p:sp>
        <p:nvSpPr>
          <p:cNvPr id="53" name="Cap2 Box"/>
          <p:cNvSpPr txBox="1"/>
          <p:nvPr/>
        </p:nvSpPr>
        <p:spPr>
          <a:xfrm>
            <a:off x="3908000" y="1860000"/>
            <a:ext cx="3300000" cy="1900000"/>
          </a:xfrm>
          <a:prstGeom prst="rect">
            <a:avLst/>
          </a:prstGeom>
          <a:solidFill>
            <a:srgbClr val="FFFFFF"/>
          </a:solidFill>
          <a:ln w="9525">
            <a:solidFill>
              <a:srgbClr val="277884"/>
            </a:solidFill>
          </a:ln>
        </p:spPr>
        <p:txBody>
          <a:bodyPr wrap="square" lIns="180000" tIns="144000" rIns="180000" bIns="144000" anchor="t"/>
          <a:lstStyle/>
          <a:p>
            <a:pPr>
              <a:spcAft>
                <a:spcPts val="300"/>
              </a:spcAft>
            </a:pPr>
            <a:r>
              <a:rPr lang="en-US" sz="950" b="1" dirty="0">
                <a:solidFill>
                  <a:srgbClr val="277884"/>
                </a:solidFill>
              </a:rPr>
              <a:t>02</a:t>
            </a:r>
          </a:p>
          <a:p>
            <a:pPr>
              <a:spcAft>
                <a:spcPts val="400"/>
              </a:spcAft>
            </a:pPr>
            <a:r>
              <a:rPr lang="en-US" sz="1150" b="1" dirty="0">
                <a:solidFill>
                  <a:srgbClr val="1B3A5C"/>
                </a:solidFill>
              </a:rPr>
              <a:t>Sampling Transparency</a:t>
            </a:r>
          </a:p>
          <a:p>
            <a:pPr marL="160000" indent="-160000">
              <a:spcAft>
                <a:spcPts val="200"/>
              </a:spcAft>
            </a:pPr>
            <a:r>
              <a:rPr lang="en-US" sz="900" b="0" dirty="0">
                <a:solidFill>
                  <a:srgbClr val="333333"/>
                </a:solidFill>
              </a:rPr>
              <a:t>•  AI-generated size ranges &amp; confidence levels</a:t>
            </a:r>
          </a:p>
          <a:p>
            <a:pPr marL="160000" indent="-160000">
              <a:spcAft>
                <a:spcPts val="200"/>
              </a:spcAft>
            </a:pPr>
            <a:r>
              <a:rPr lang="en-US" sz="900" b="0" dirty="0">
                <a:solidFill>
                  <a:srgbClr val="333333"/>
                </a:solidFill>
              </a:rPr>
              <a:t>•  Document predictions: POs, invoices, contracts</a:t>
            </a:r>
          </a:p>
          <a:p>
            <a:pPr marL="160000" indent="-160000">
              <a:spcAft>
                <a:spcPts val="200"/>
              </a:spcAft>
            </a:pPr>
            <a:r>
              <a:rPr lang="en-US" sz="900" b="0" dirty="0">
                <a:solidFill>
                  <a:srgbClr val="333333"/>
                </a:solidFill>
              </a:rPr>
              <a:t>•  AILogicExplainer: methodology in plain language</a:t>
            </a:r>
          </a:p>
          <a:p>
            <a:pPr marL="160000" indent="-160000">
              <a:spcAft>
                <a:spcPts val="200"/>
              </a:spcAft>
            </a:pPr>
            <a:r>
              <a:rPr lang="en-US" sz="900" b="0" dirty="0">
                <a:solidFill>
                  <a:srgbClr val="333333"/>
                </a:solidFill>
              </a:rPr>
              <a:t>•  Sunburst chart &amp; historical trend bars</a:t>
            </a:r>
          </a:p>
        </p:txBody>
      </p:sp>
      <p:sp>
        <p:nvSpPr>
          <p:cNvPr id="54" name="Cap3 Box"/>
          <p:cNvSpPr txBox="1"/>
          <p:nvPr/>
        </p:nvSpPr>
        <p:spPr>
          <a:xfrm>
            <a:off x="508000" y="3860000"/>
            <a:ext cx="3300000" cy="1900000"/>
          </a:xfrm>
          <a:prstGeom prst="rect">
            <a:avLst/>
          </a:prstGeom>
          <a:solidFill>
            <a:srgbClr val="FFFFFF"/>
          </a:solidFill>
          <a:ln w="9525">
            <a:solidFill>
              <a:srgbClr val="9C4F2B"/>
            </a:solidFill>
          </a:ln>
        </p:spPr>
        <p:txBody>
          <a:bodyPr wrap="square" lIns="180000" tIns="144000" rIns="180000" bIns="144000" anchor="t"/>
          <a:lstStyle/>
          <a:p>
            <a:pPr>
              <a:spcAft>
                <a:spcPts val="300"/>
              </a:spcAft>
            </a:pPr>
            <a:r>
              <a:rPr lang="en-US" sz="950" b="1" dirty="0">
                <a:solidFill>
                  <a:srgbClr val="9C4F2B"/>
                </a:solidFill>
              </a:rPr>
              <a:t>03</a:t>
            </a:r>
          </a:p>
          <a:p>
            <a:pPr>
              <a:spcAft>
                <a:spcPts val="400"/>
              </a:spcAft>
            </a:pPr>
            <a:r>
              <a:rPr lang="en-US" sz="1150" b="1" dirty="0">
                <a:solidFill>
                  <a:srgbClr val="1B3A5C"/>
                </a:solidFill>
              </a:rPr>
              <a:t>Impact Simulation</a:t>
            </a:r>
          </a:p>
          <a:p>
            <a:pPr marL="160000" indent="-160000">
              <a:spcAft>
                <a:spcPts val="200"/>
              </a:spcAft>
            </a:pPr>
            <a:r>
              <a:rPr lang="en-US" sz="900" b="0" dirty="0">
                <a:solidFill>
                  <a:srgbClr val="333333"/>
                </a:solidFill>
              </a:rPr>
              <a:t>•  ForceGraphD3: COSO dependency graph, draggable nodes</a:t>
            </a:r>
          </a:p>
          <a:p>
            <a:pPr marL="160000" indent="-160000">
              <a:spcAft>
                <a:spcPts val="200"/>
              </a:spcAft>
            </a:pPr>
            <a:r>
              <a:rPr lang="en-US" sz="900" b="0" dirty="0">
                <a:solidFill>
                  <a:srgbClr val="333333"/>
                </a:solidFill>
              </a:rPr>
              <a:t>•  Before/after comparison with delta calculations</a:t>
            </a:r>
          </a:p>
          <a:p>
            <a:pPr marL="160000" indent="-160000">
              <a:spcAft>
                <a:spcPts val="200"/>
              </a:spcAft>
            </a:pPr>
            <a:r>
              <a:rPr lang="en-US" sz="900" b="0" dirty="0">
                <a:solidFill>
                  <a:srgbClr val="333333"/>
                </a:solidFill>
              </a:rPr>
              <a:t>•  Context-aware AI next-step recommendations</a:t>
            </a:r>
          </a:p>
        </p:txBody>
      </p:sp>
      <p:sp>
        <p:nvSpPr>
          <p:cNvPr id="55" name="Cap4 Box"/>
          <p:cNvSpPr txBox="1"/>
          <p:nvPr/>
        </p:nvSpPr>
        <p:spPr>
          <a:xfrm>
            <a:off x="3908000" y="3860000"/>
            <a:ext cx="3300000" cy="1900000"/>
          </a:xfrm>
          <a:prstGeom prst="rect">
            <a:avLst/>
          </a:prstGeom>
          <a:solidFill>
            <a:srgbClr val="FFFFFF"/>
          </a:solidFill>
          <a:ln w="9525">
            <a:solidFill>
              <a:srgbClr val="503C8C"/>
            </a:solidFill>
          </a:ln>
        </p:spPr>
        <p:txBody>
          <a:bodyPr wrap="square" lIns="180000" tIns="144000" rIns="180000" bIns="144000" anchor="t"/>
          <a:lstStyle/>
          <a:p>
            <a:pPr>
              <a:spcAft>
                <a:spcPts val="300"/>
              </a:spcAft>
            </a:pPr>
            <a:r>
              <a:rPr lang="en-US" sz="950" b="1" dirty="0">
                <a:solidFill>
                  <a:srgbClr val="503C8C"/>
                </a:solidFill>
              </a:rPr>
              <a:t>04</a:t>
            </a:r>
          </a:p>
          <a:p>
            <a:pPr>
              <a:spcAft>
                <a:spcPts val="400"/>
              </a:spcAft>
            </a:pPr>
            <a:r>
              <a:rPr lang="en-US" sz="1150" b="1" dirty="0">
                <a:solidFill>
                  <a:srgbClr val="1B3A5C"/>
                </a:solidFill>
              </a:rPr>
              <a:t>Multi-Stakeholder Communication</a:t>
            </a:r>
          </a:p>
          <a:p>
            <a:pPr marL="160000" indent="-160000">
              <a:spcAft>
                <a:spcPts val="200"/>
              </a:spcAft>
            </a:pPr>
            <a:r>
              <a:rPr lang="en-US" sz="900" b="0" dirty="0">
                <a:solidFill>
                  <a:srgbClr val="333333"/>
                </a:solidFill>
              </a:rPr>
              <a:t>•  CFO: financial impact &amp; quantitative analysis</a:t>
            </a:r>
          </a:p>
          <a:p>
            <a:pPr marL="160000" indent="-160000">
              <a:spcAft>
                <a:spcPts val="200"/>
              </a:spcAft>
            </a:pPr>
            <a:r>
              <a:rPr lang="en-US" sz="900" b="0" dirty="0">
                <a:solidFill>
                  <a:srgbClr val="333333"/>
                </a:solidFill>
              </a:rPr>
              <a:t>•  Internal Audit: control deficiencies &amp; remediation</a:t>
            </a:r>
          </a:p>
          <a:p>
            <a:pPr marL="160000" indent="-160000">
              <a:spcAft>
                <a:spcPts val="200"/>
              </a:spcAft>
            </a:pPr>
            <a:r>
              <a:rPr lang="en-US" sz="900" b="0" dirty="0">
                <a:solidFill>
                  <a:srgbClr val="333333"/>
                </a:solidFill>
              </a:rPr>
              <a:t>•  IT: technical dependencies &amp; configuration impacts</a:t>
            </a:r>
          </a:p>
          <a:p>
            <a:pPr marL="160000" indent="-160000">
              <a:spcAft>
                <a:spcPts val="200"/>
              </a:spcAft>
            </a:pPr>
            <a:r>
              <a:rPr lang="en-US" sz="900" b="0" dirty="0">
                <a:solidFill>
                  <a:srgbClr val="333333"/>
                </a:solidFill>
              </a:rPr>
              <a:t>•  Approval workflow with engagement team oversight</a:t>
            </a:r>
          </a:p>
        </p:txBody>
      </p:sp>
      <p:sp>
        <p:nvSpPr>
          <p:cNvPr id="60" name="Right Sidebar"/>
          <p:cNvSpPr txBox="1"/>
          <p:nvPr/>
        </p:nvSpPr>
        <p:spPr>
          <a:xfrm>
            <a:off x="7400000" y="1500000"/>
            <a:ext cx="4284000" cy="426000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txBody>
          <a:bodyPr wrap="square" lIns="252000" tIns="252000" rIns="252000" bIns="216000" anchor="t"/>
          <a:lstStyle/>
          <a:p>
            <a:pPr>
              <a:spcAft>
                <a:spcPts val="400"/>
              </a:spcAft>
            </a:pPr>
            <a:r>
              <a:rPr lang="en-US" sz="1300" b="1" dirty="0">
                <a:solidFill>
                  <a:srgbClr val="FFFFFF"/>
                </a:solidFill>
              </a:rPr>
              <a:t>FOUNDATIONAL ASSUMPTIONS</a:t>
            </a:r>
          </a:p>
          <a:p>
            <a:pPr>
              <a:spcAft>
                <a:spcPts val="600"/>
              </a:spcAft>
            </a:pPr>
            <a:r>
              <a:rPr lang="en-US" sz="950" b="0" i="1" dirty="0">
                <a:solidFill>
                  <a:srgbClr val="A8C0DA"/>
                </a:solidFill>
              </a:rPr>
              <a:t>Five core beliefs about the evolving audit landscape:</a:t>
            </a:r>
          </a:p>
          <a:p>
            <a:pPr marL="252000" indent="-252000">
              <a:spcAft>
                <a:spcPts val="500"/>
              </a:spcAft>
            </a:pPr>
            <a:r>
              <a:rPr lang="en-US" sz="950" b="1" dirty="0">
                <a:solidFill>
                  <a:srgbClr val="FFC857"/>
                </a:solidFill>
              </a:rPr>
              <a:t>A1  </a:t>
            </a:r>
            <a:r>
              <a:rPr lang="en-US" sz="950" b="1" dirty="0">
                <a:solidFill>
                  <a:srgbClr val="FFFFFF"/>
                </a:solidFill>
              </a:rPr>
              <a:t>Transparency Demand is Structural </a:t>
            </a:r>
            <a:r>
              <a:rPr lang="en-US" sz="900" b="0" dirty="0">
                <a:solidFill>
                  <a:srgbClr val="D6E0EC"/>
                </a:solidFill>
              </a:rPr>
              <a:t>— driven by regulatory pressure &amp; governance.</a:t>
            </a:r>
          </a:p>
          <a:p>
            <a:pPr marL="252000" indent="-252000">
              <a:spcAft>
                <a:spcPts val="500"/>
              </a:spcAft>
            </a:pPr>
            <a:r>
              <a:rPr lang="en-US" sz="950" b="1" dirty="0">
                <a:solidFill>
                  <a:srgbClr val="FFC857"/>
                </a:solidFill>
              </a:rPr>
              <a:t>A2  </a:t>
            </a:r>
            <a:r>
              <a:rPr lang="en-US" sz="950" b="1" dirty="0">
                <a:solidFill>
                  <a:srgbClr val="FFFFFF"/>
                </a:solidFill>
              </a:rPr>
              <a:t>Fragmentation Erodes Trust </a:t>
            </a:r>
            <a:r>
              <a:rPr lang="en-US" sz="900" b="0" dirty="0">
                <a:solidFill>
                  <a:srgbClr val="D6E0EC"/>
                </a:solidFill>
              </a:rPr>
              <a:t>— disparate channels breed anxiety &amp; erode confidence.</a:t>
            </a:r>
          </a:p>
          <a:p>
            <a:pPr marL="252000" indent="-252000">
              <a:spcAft>
                <a:spcPts val="500"/>
              </a:spcAft>
            </a:pPr>
            <a:r>
              <a:rPr lang="en-US" sz="950" b="1" dirty="0">
                <a:solidFill>
                  <a:srgbClr val="FFC857"/>
                </a:solidFill>
              </a:rPr>
              <a:t>A3  </a:t>
            </a:r>
            <a:r>
              <a:rPr lang="en-US" sz="950" b="1" dirty="0">
                <a:solidFill>
                  <a:srgbClr val="FFFFFF"/>
                </a:solidFill>
              </a:rPr>
              <a:t>Early Visibility Prevents Escalation </a:t>
            </a:r>
            <a:r>
              <a:rPr lang="en-US" sz="900" b="0" dirty="0">
                <a:solidFill>
                  <a:srgbClr val="D6E0EC"/>
                </a:solidFill>
              </a:rPr>
              <a:t>— pre-request visibility defuses tension early.</a:t>
            </a:r>
          </a:p>
          <a:p>
            <a:pPr marL="252000" indent="-252000">
              <a:spcAft>
                <a:spcPts val="500"/>
              </a:spcAft>
            </a:pPr>
            <a:r>
              <a:rPr lang="en-US" sz="950" b="1" dirty="0">
                <a:solidFill>
                  <a:srgbClr val="FFC857"/>
                </a:solidFill>
              </a:rPr>
              <a:t>A4  </a:t>
            </a:r>
            <a:r>
              <a:rPr lang="en-US" sz="950" b="1" dirty="0">
                <a:solidFill>
                  <a:srgbClr val="FFFFFF"/>
                </a:solidFill>
              </a:rPr>
              <a:t>Context Over Volume </a:t>
            </a:r>
            <a:r>
              <a:rPr lang="en-US" sz="900" b="0" dirty="0">
                <a:solidFill>
                  <a:srgbClr val="D6E0EC"/>
                </a:solidFill>
              </a:rPr>
              <a:t>— methodology beats raw numbers for understanding.</a:t>
            </a:r>
          </a:p>
          <a:p>
            <a:pPr marL="252000" indent="-252000">
              <a:spcAft>
                <a:spcPts val="500"/>
              </a:spcAft>
            </a:pPr>
            <a:r>
              <a:rPr lang="en-US" sz="950" b="1" dirty="0">
                <a:solidFill>
                  <a:srgbClr val="FFC857"/>
                </a:solidFill>
              </a:rPr>
              <a:t>A5  </a:t>
            </a:r>
            <a:r>
              <a:rPr lang="en-US" sz="950" b="1" dirty="0">
                <a:solidFill>
                  <a:srgbClr val="FFFFFF"/>
                </a:solidFill>
              </a:rPr>
              <a:t>Differentiated by Role </a:t>
            </a:r>
            <a:r>
              <a:rPr lang="en-US" sz="900" b="0" dirty="0">
                <a:solidFill>
                  <a:srgbClr val="D6E0EC"/>
                </a:solidFill>
              </a:rPr>
              <a:t>— CFO/IA/IT have fundamentally different needs.</a:t>
            </a:r>
          </a:p>
          <a:p>
            <a:pPr>
              <a:spcBef>
                <a:spcPts val="800"/>
              </a:spcBef>
              <a:spcAft>
                <a:spcPts val="200"/>
              </a:spcAft>
            </a:pPr>
            <a:r>
              <a:rPr lang="en-US" sz="900" b="1" dirty="0">
                <a:solidFill>
                  <a:srgbClr val="FFC857"/>
                </a:solidFill>
              </a:rPr>
              <a:t>DESIGN RATIONALE  —  AI as INTERPRETER, not decider</a:t>
            </a:r>
          </a:p>
          <a:p>
            <a:r>
              <a:rPr lang="en-US" sz="850" b="0" i="1" dirty="0">
                <a:solidFill>
                  <a:srgbClr val="D6E0EC"/>
                </a:solidFill>
              </a:rPr>
              <a:t>AI translates technical findings into plain-language narratives with explained methodology — judgment stays with audit professionals.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solidFill>
                  <a:srgbClr val="1B3A5C"/>
                </a:solidFill>
              </a:rPr>
              <a:t>Business Value, Technology &amp; Prototype Scope</a:t>
            </a:r>
            <a:endParaRPr lang="en-GB"/>
          </a:p>
        </p:txBody>
      </p:sp>
      <p:sp>
        <p:nvSpPr>
          <p:cNvPr id="70" name="Subtitle"/>
          <p:cNvSpPr txBox="1"/>
          <p:nvPr/>
        </p:nvSpPr>
        <p:spPr>
          <a:xfrm>
            <a:off x="508000" y="1149350"/>
            <a:ext cx="11176000" cy="28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r>
              <a:rPr lang="en-US" sz="1200" b="0" i="1" dirty="0">
                <a:solidFill>
                  <a:srgbClr val="555555"/>
                </a:solidFill>
              </a:rPr>
              <a:t>Measurable value at three levels  |  modern full-stack architecture  |  focused, validated prototype scope.</a:t>
            </a:r>
          </a:p>
        </p:txBody>
      </p:sp>
      <p:sp>
        <p:nvSpPr>
          <p:cNvPr id="71" name="Value Header"/>
          <p:cNvSpPr txBox="1"/>
          <p:nvPr/>
        </p:nvSpPr>
        <p:spPr>
          <a:xfrm>
            <a:off x="508000" y="1500000"/>
            <a:ext cx="6700000" cy="32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r>
              <a:rPr lang="en-US" sz="1300" b="1" dirty="0">
                <a:solidFill>
                  <a:srgbClr val="1B3A5C"/>
                </a:solidFill>
              </a:rPr>
              <a:t>BUSINESS VALUE  |  Three Stakeholder Levels</a:t>
            </a:r>
          </a:p>
        </p:txBody>
      </p:sp>
      <p:sp>
        <p:nvSpPr>
          <p:cNvPr id="72" name="V1"/>
          <p:cNvSpPr txBox="1"/>
          <p:nvPr/>
        </p:nvSpPr>
        <p:spPr>
          <a:xfrm>
            <a:off x="508000" y="1860000"/>
            <a:ext cx="2200000" cy="1450000"/>
          </a:xfrm>
          <a:prstGeom prst="rect">
            <a:avLst/>
          </a:prstGeom>
          <a:solidFill>
            <a:srgbClr val="EAF1F8"/>
          </a:solidFill>
          <a:ln w="9525">
            <a:solidFill>
              <a:srgbClr val="2B5A9C"/>
            </a:solidFill>
          </a:ln>
        </p:spPr>
        <p:txBody>
          <a:bodyPr wrap="square" lIns="180000" tIns="180000" rIns="180000" bIns="180000" anchor="t"/>
          <a:lstStyle/>
          <a:p>
            <a:pPr>
              <a:spcAft>
                <a:spcPts val="200"/>
              </a:spcAft>
            </a:pPr>
            <a:r>
              <a:rPr lang="en-US" sz="900" b="1" dirty="0">
                <a:solidFill>
                  <a:srgbClr val="2B5A9C"/>
                </a:solidFill>
              </a:rPr>
              <a:t>CLIENT</a:t>
            </a:r>
          </a:p>
          <a:p>
            <a:pPr>
              <a:spcAft>
                <a:spcPts val="400"/>
              </a:spcAft>
            </a:pPr>
            <a:r>
              <a:rPr lang="en-US" sz="1100" b="1" dirty="0">
                <a:solidFill>
                  <a:srgbClr val="1B3A5C"/>
                </a:solidFill>
              </a:rPr>
              <a:t>Transparent Partnership</a:t>
            </a:r>
          </a:p>
          <a:p>
            <a:r>
              <a:rPr lang="en-US" sz="900" b="0" dirty="0">
                <a:solidFill>
                  <a:srgbClr val="333333"/>
                </a:solidFill>
              </a:rPr>
              <a:t>Audit shifts from black-box to transparent, collaborative experience.</a:t>
            </a:r>
          </a:p>
        </p:txBody>
      </p:sp>
      <p:sp>
        <p:nvSpPr>
          <p:cNvPr id="73" name="V2"/>
          <p:cNvSpPr txBox="1"/>
          <p:nvPr/>
        </p:nvSpPr>
        <p:spPr>
          <a:xfrm>
            <a:off x="2758000" y="1860000"/>
            <a:ext cx="2200000" cy="1450000"/>
          </a:xfrm>
          <a:prstGeom prst="rect">
            <a:avLst/>
          </a:prstGeom>
          <a:solidFill>
            <a:srgbClr val="E1F0F2"/>
          </a:solidFill>
          <a:ln w="9525">
            <a:solidFill>
              <a:srgbClr val="277884"/>
            </a:solidFill>
          </a:ln>
        </p:spPr>
        <p:txBody>
          <a:bodyPr wrap="square" lIns="180000" tIns="180000" rIns="180000" bIns="180000" anchor="t"/>
          <a:lstStyle/>
          <a:p>
            <a:pPr>
              <a:spcAft>
                <a:spcPts val="200"/>
              </a:spcAft>
            </a:pPr>
            <a:r>
              <a:rPr lang="en-US" sz="900" b="1" dirty="0">
                <a:solidFill>
                  <a:srgbClr val="277884"/>
                </a:solidFill>
              </a:rPr>
              <a:t>AUDIT TEAM</a:t>
            </a:r>
          </a:p>
          <a:p>
            <a:pPr>
              <a:spcAft>
                <a:spcPts val="400"/>
              </a:spcAft>
            </a:pPr>
            <a:r>
              <a:rPr lang="en-US" sz="1100" b="1" dirty="0">
                <a:solidFill>
                  <a:srgbClr val="1B3A5C"/>
                </a:solidFill>
              </a:rPr>
              <a:t>Higher-Judgment Work</a:t>
            </a:r>
          </a:p>
          <a:p>
            <a:r>
              <a:rPr lang="en-US" sz="900" b="0" dirty="0">
                <a:solidFill>
                  <a:srgbClr val="333333"/>
                </a:solidFill>
              </a:rPr>
              <a:t>AI automation frees teams from routine communication, focusing on high-value judgment.</a:t>
            </a:r>
          </a:p>
        </p:txBody>
      </p:sp>
      <p:sp>
        <p:nvSpPr>
          <p:cNvPr id="74" name="V3"/>
          <p:cNvSpPr txBox="1"/>
          <p:nvPr/>
        </p:nvSpPr>
        <p:spPr>
          <a:xfrm>
            <a:off x="5008000" y="1860000"/>
            <a:ext cx="2200000" cy="1450000"/>
          </a:xfrm>
          <a:prstGeom prst="rect">
            <a:avLst/>
          </a:prstGeom>
          <a:solidFill>
            <a:srgbClr val="F4E8DD"/>
          </a:solidFill>
          <a:ln w="9525">
            <a:solidFill>
              <a:srgbClr val="9C4F2B"/>
            </a:solidFill>
          </a:ln>
        </p:spPr>
        <p:txBody>
          <a:bodyPr wrap="square" lIns="180000" tIns="180000" rIns="180000" bIns="180000" anchor="t"/>
          <a:lstStyle/>
          <a:p>
            <a:pPr>
              <a:spcAft>
                <a:spcPts val="200"/>
              </a:spcAft>
            </a:pPr>
            <a:r>
              <a:rPr lang="en-US" sz="900" b="1" dirty="0">
                <a:solidFill>
                  <a:srgbClr val="9C4F2B"/>
                </a:solidFill>
              </a:rPr>
              <a:t>FIRM</a:t>
            </a:r>
          </a:p>
          <a:p>
            <a:pPr>
              <a:spcAft>
                <a:spcPts val="400"/>
              </a:spcAft>
            </a:pPr>
            <a:r>
              <a:rPr lang="en-US" sz="1100" b="1" dirty="0">
                <a:solidFill>
                  <a:srgbClr val="1B3A5C"/>
                </a:solidFill>
              </a:rPr>
              <a:t>Competitive Differentiator</a:t>
            </a:r>
          </a:p>
          <a:p>
            <a:r>
              <a:rPr lang="en-US" sz="900" b="0" dirty="0">
                <a:solidFill>
                  <a:srgbClr val="333333"/>
                </a:solidFill>
              </a:rPr>
              <a:t>Transparency drives client retention &amp; influences fee negotiations.</a:t>
            </a:r>
          </a:p>
        </p:txBody>
      </p:sp>
      <p:sp>
        <p:nvSpPr>
          <p:cNvPr id="75" name="Tech Header"/>
          <p:cNvSpPr txBox="1"/>
          <p:nvPr/>
        </p:nvSpPr>
        <p:spPr>
          <a:xfrm>
            <a:off x="508000" y="3450000"/>
            <a:ext cx="6700000" cy="32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r>
              <a:rPr lang="en-US" sz="1300" b="1" dirty="0">
                <a:solidFill>
                  <a:srgbClr val="1B3A5C"/>
                </a:solidFill>
              </a:rPr>
              <a:t>TECHNOLOGY STACK  |  Modern Full-Stack Architecture</a:t>
            </a:r>
          </a:p>
        </p:txBody>
      </p:sp>
      <p:sp>
        <p:nvSpPr>
          <p:cNvPr id="76" name="Tech Table"/>
          <p:cNvSpPr txBox="1"/>
          <p:nvPr/>
        </p:nvSpPr>
        <p:spPr>
          <a:xfrm>
            <a:off x="508000" y="3820000"/>
            <a:ext cx="6700000" cy="2267291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txBody>
          <a:bodyPr wrap="square" lIns="252000" tIns="216000" rIns="252000" bIns="216000" anchor="t"/>
          <a:lstStyle/>
          <a:p>
            <a:pPr marL="1620000" indent="-1620000">
              <a:tabLst>
                <a:tab pos="1620000" algn="l"/>
              </a:tabLst>
            </a:pPr>
            <a:r>
              <a:rPr lang="en-US" sz="950" b="1" dirty="0">
                <a:solidFill>
                  <a:srgbClr val="2B5A9C"/>
                </a:solidFill>
              </a:rPr>
              <a:t>Frontend	</a:t>
            </a:r>
            <a:r>
              <a:rPr lang="en-US" sz="950" b="0" dirty="0">
                <a:solidFill>
                  <a:srgbClr val="333333"/>
                </a:solidFill>
              </a:rPr>
              <a:t>React 18 + TypeScript + Vite, Tailwind CSS, shadcn/ui, D3.js, ECharts, Recharts</a:t>
            </a:r>
          </a:p>
          <a:p>
            <a:pPr marL="1620000" indent="-1620000">
              <a:tabLst>
                <a:tab pos="1620000" algn="l"/>
              </a:tabLst>
            </a:pPr>
            <a:r>
              <a:rPr lang="en-US" sz="950" b="1" dirty="0">
                <a:solidFill>
                  <a:srgbClr val="2B5A9C"/>
                </a:solidFill>
              </a:rPr>
              <a:t>State / Data	</a:t>
            </a:r>
            <a:r>
              <a:rPr lang="en-US" sz="950" b="0" dirty="0">
                <a:solidFill>
                  <a:srgbClr val="333333"/>
                </a:solidFill>
              </a:rPr>
              <a:t>Zustand, TanStack React Query + Axios with retry &amp; cache</a:t>
            </a:r>
          </a:p>
          <a:p>
            <a:pPr marL="1620000" indent="-1620000">
              <a:tabLst>
                <a:tab pos="1620000" algn="l"/>
              </a:tabLst>
            </a:pPr>
            <a:r>
              <a:rPr lang="en-US" sz="950" b="1" dirty="0">
                <a:solidFill>
                  <a:srgbClr val="277884"/>
                </a:solidFill>
              </a:rPr>
              <a:t>Backend	</a:t>
            </a:r>
            <a:r>
              <a:rPr lang="en-US" sz="950" b="0" dirty="0">
                <a:solidFill>
                  <a:srgbClr val="333333"/>
                </a:solidFill>
              </a:rPr>
              <a:t>FastAPI + Uvicorn, Pydantic v2, SSE streaming, OpenAPI docs</a:t>
            </a:r>
          </a:p>
          <a:p>
            <a:pPr marL="1620000" indent="-1620000">
              <a:tabLst>
                <a:tab pos="1620000" algn="l"/>
              </a:tabLst>
            </a:pPr>
            <a:r>
              <a:rPr lang="en-US" sz="950" b="1" dirty="0">
                <a:solidFill>
                  <a:srgbClr val="277884"/>
                </a:solidFill>
              </a:rPr>
              <a:t>AI / LLM	</a:t>
            </a:r>
            <a:r>
              <a:rPr lang="en-US" sz="950" b="0" dirty="0">
                <a:solidFill>
                  <a:srgbClr val="333333"/>
                </a:solidFill>
              </a:rPr>
              <a:t>DeepSeek (deepseek-chat) — swappable to internal LLM via API</a:t>
            </a:r>
          </a:p>
          <a:p>
            <a:pPr marL="1620000" indent="-1620000">
              <a:tabLst>
                <a:tab pos="1620000" algn="l"/>
              </a:tabLst>
            </a:pPr>
            <a:r>
              <a:rPr lang="en-US" sz="950" b="1" dirty="0">
                <a:solidFill>
                  <a:srgbClr val="9C4F2B"/>
                </a:solidFill>
              </a:rPr>
              <a:t>Media AI	</a:t>
            </a:r>
            <a:r>
              <a:rPr lang="en-US" sz="950" b="0" dirty="0">
                <a:solidFill>
                  <a:srgbClr val="333333"/>
                </a:solidFill>
              </a:rPr>
              <a:t>Ark API (doubao-seedream-4.5) + Ark Seedance 2.0 + ffmpeg/ffprobe</a:t>
            </a:r>
          </a:p>
          <a:p>
            <a:pPr marL="1620000" indent="-1620000">
              <a:tabLst>
                <a:tab pos="1620000" algn="l"/>
              </a:tabLst>
            </a:pPr>
            <a:r>
              <a:rPr lang="en-US" sz="950" b="1" dirty="0">
                <a:solidFill>
                  <a:srgbClr val="503C8C"/>
                </a:solidFill>
              </a:rPr>
              <a:t>Engineering	</a:t>
            </a:r>
            <a:r>
              <a:rPr lang="en-US" sz="950" b="0" dirty="0">
                <a:solidFill>
                  <a:srgbClr val="333333"/>
                </a:solidFill>
              </a:rPr>
              <a:t>YAML-based prompt templates, Custom i18n (EN/CN), automatic mock fallback</a:t>
            </a:r>
          </a:p>
        </p:txBody>
      </p:sp>
      <p:sp>
        <p:nvSpPr>
          <p:cNvPr id="80" name="Right Sidebar"/>
          <p:cNvSpPr txBox="1"/>
          <p:nvPr/>
        </p:nvSpPr>
        <p:spPr>
          <a:xfrm>
            <a:off x="7400000" y="1500000"/>
            <a:ext cx="4284000" cy="4587291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txBody>
          <a:bodyPr wrap="square" lIns="252000" tIns="252000" rIns="252000" bIns="216000" anchor="t"/>
          <a:lstStyle/>
          <a:p>
            <a:pPr>
              <a:spcAft>
                <a:spcPts val="400"/>
              </a:spcAft>
            </a:pPr>
            <a:r>
              <a:rPr lang="en-US" sz="1300" b="1" dirty="0">
                <a:solidFill>
                  <a:srgbClr val="FFFFFF"/>
                </a:solidFill>
              </a:rPr>
              <a:t>PROTOTYPE SCOPE</a:t>
            </a:r>
          </a:p>
          <a:p>
            <a:pPr>
              <a:spcAft>
                <a:spcPts val="500"/>
              </a:spcAft>
            </a:pPr>
            <a:r>
              <a:rPr lang="en-US" sz="950" b="0" i="1" dirty="0">
                <a:solidFill>
                  <a:srgbClr val="A8C0DA"/>
                </a:solidFill>
              </a:rPr>
              <a:t>Validates core assumptions through focused demonstration:</a:t>
            </a:r>
          </a:p>
          <a:p>
            <a:pPr marL="252000" indent="-252000">
              <a:spcAft>
                <a:spcPts val="400"/>
              </a:spcAft>
            </a:pPr>
            <a:r>
              <a:rPr lang="en-US" sz="950" b="1" dirty="0">
                <a:solidFill>
                  <a:srgbClr val="FFC857"/>
                </a:solidFill>
              </a:rPr>
              <a:t>•  </a:t>
            </a:r>
            <a:r>
              <a:rPr lang="en-US" sz="950" b="0" dirty="0">
                <a:solidFill>
                  <a:srgbClr val="FFFFFF"/>
                </a:solidFill>
              </a:rPr>
              <a:t>Synthetic </a:t>
            </a:r>
            <a:r>
              <a:rPr lang="en-US" sz="950" b="1" dirty="0">
                <a:solidFill>
                  <a:srgbClr val="FFFFFF"/>
                </a:solidFill>
              </a:rPr>
              <a:t>bank lending ICFR </a:t>
            </a:r>
            <a:r>
              <a:rPr lang="en-US" sz="950" b="0" dirty="0">
                <a:solidFill>
                  <a:srgbClr val="FFFFFF"/>
                </a:solidFill>
              </a:rPr>
              <a:t>data — no real client information.</a:t>
            </a:r>
          </a:p>
          <a:p>
            <a:pPr marL="252000" indent="-252000">
              <a:spcAft>
                <a:spcPts val="400"/>
              </a:spcAft>
            </a:pPr>
            <a:r>
              <a:rPr lang="en-US" sz="950" b="1" dirty="0">
                <a:solidFill>
                  <a:srgbClr val="FFC857"/>
                </a:solidFill>
              </a:rPr>
              <a:t>•  </a:t>
            </a:r>
            <a:r>
              <a:rPr lang="en-US" sz="950" b="1" dirty="0">
                <a:solidFill>
                  <a:srgbClr val="FFFFFF"/>
                </a:solidFill>
              </a:rPr>
              <a:t>3 audit objectives </a:t>
            </a:r>
            <a:r>
              <a:rPr lang="en-US" sz="950" b="0" dirty="0">
                <a:solidFill>
                  <a:srgbClr val="FFFFFF"/>
                </a:solidFill>
              </a:rPr>
              <a:t>with full COSO 2013 mapping across all 5 dimensions.</a:t>
            </a:r>
          </a:p>
          <a:p>
            <a:pPr marL="252000" indent="-252000">
              <a:spcAft>
                <a:spcPts val="400"/>
              </a:spcAft>
            </a:pPr>
            <a:r>
              <a:rPr lang="en-US" sz="950" b="1" dirty="0">
                <a:solidFill>
                  <a:srgbClr val="FFC857"/>
                </a:solidFill>
              </a:rPr>
              <a:t>•  </a:t>
            </a:r>
            <a:r>
              <a:rPr lang="en-US" sz="950" b="1" dirty="0">
                <a:solidFill>
                  <a:srgbClr val="FFFFFF"/>
                </a:solidFill>
              </a:rPr>
              <a:t>4 stakeholder personas </a:t>
            </a:r>
            <a:r>
              <a:rPr lang="en-US" sz="950" b="0" dirty="0">
                <a:solidFill>
                  <a:srgbClr val="FFFFFF"/>
                </a:solidFill>
              </a:rPr>
              <a:t>with distinct visibility controls and AI-tailored outputs.</a:t>
            </a:r>
          </a:p>
          <a:p>
            <a:pPr marL="252000" indent="-252000">
              <a:spcAft>
                <a:spcPts val="600"/>
              </a:spcAft>
            </a:pPr>
            <a:r>
              <a:rPr lang="en-US" sz="950" b="1" dirty="0">
                <a:solidFill>
                  <a:srgbClr val="FFC857"/>
                </a:solidFill>
              </a:rPr>
              <a:t>•  </a:t>
            </a:r>
            <a:r>
              <a:rPr lang="en-US" sz="950" b="0" dirty="0">
                <a:solidFill>
                  <a:srgbClr val="FFFFFF"/>
                </a:solidFill>
              </a:rPr>
              <a:t>Curated mock data enables full demo without API keys or external dependencies.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lang="en-US" sz="1100" b="1" dirty="0">
                <a:solidFill>
                  <a:srgbClr val="FFC857"/>
                </a:solidFill>
              </a:rPr>
              <a:t>WHY THIS MATTERS</a:t>
            </a:r>
          </a:p>
          <a:p>
            <a:r>
              <a:rPr lang="en-US" sz="900" b="0" i="1" dirty="0">
                <a:solidFill>
                  <a:srgbClr val="D6E0EC"/>
                </a:solidFill>
              </a:rPr>
              <a:t>LuminFlow demonstrates that audit transparency, sampling clarity, and impact analysis can be operationalised today — with a production-ready architecture, a concrete COSO mapping, and contract-driven Pydantic-to-TypeScript alignment ensuring rapid scale-up across engagements.</a:t>
            </a:r>
          </a:p>
          <a:p>
            <a:pPr algn="ctr">
              <a:spcBef>
                <a:spcPts val="400"/>
              </a:spcBef>
            </a:pPr>
            <a:r>
              <a:rPr lang="en-US" sz="950" b="1" dirty="0">
                <a:solidFill>
                  <a:srgbClr val="FFC857"/>
                </a:solidFill>
              </a:rPr>
              <a:t>LuminFlow  —  Lighting up audit visibility.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DV_TOP" val="497.6471"/>
  <p:tag name="ADV_LEFT" val="136.3465"/>
  <p:tag name="ADV_HEIGHT" val="29.19685"/>
  <p:tag name="ADV_WIDTH" val="458.0787"/>
  <p:tag name="ADV_COPYRIGHT" val="TRU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DV_TOP" val="497.6471"/>
  <p:tag name="ADV_LEFT" val="136.3465"/>
  <p:tag name="ADV_HEIGHT" val="29.19685"/>
  <p:tag name="ADV_WIDTH" val="458.0787"/>
  <p:tag name="ADV_COPYRIGHT" val="TRU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DV_TOP" val="497.6471"/>
  <p:tag name="ADV_LEFT" val="136.3465"/>
  <p:tag name="ADV_HEIGHT" val="29.19685"/>
  <p:tag name="ADV_WIDTH" val="458.0787"/>
  <p:tag name="ADV_COPYRIGHT" val="TRUE"/>
</p:tagLst>
</file>

<file path=ppt/theme/theme1.xml><?xml version="1.0" encoding="utf-8"?>
<a:theme xmlns:a="http://schemas.openxmlformats.org/drawingml/2006/main" name="KPMG Widescreen [16:9] Feb 2022">
  <a:themeElements>
    <a:clrScheme name="KPMG_MAR">
      <a:dk1>
        <a:srgbClr val="000000"/>
      </a:dk1>
      <a:lt1>
        <a:srgbClr val="FFFFFF"/>
      </a:lt1>
      <a:dk2>
        <a:srgbClr val="00338D"/>
      </a:dk2>
      <a:lt2>
        <a:srgbClr val="E5E5E5"/>
      </a:lt2>
      <a:accent1>
        <a:srgbClr val="1E49E2"/>
      </a:accent1>
      <a:accent2>
        <a:srgbClr val="00338D"/>
      </a:accent2>
      <a:accent3>
        <a:srgbClr val="0C233C"/>
      </a:accent3>
      <a:accent4>
        <a:srgbClr val="00B8F5"/>
      </a:accent4>
      <a:accent5>
        <a:srgbClr val="7213EA"/>
      </a:accent5>
      <a:accent6>
        <a:srgbClr val="FD349C"/>
      </a:accent6>
      <a:hlink>
        <a:srgbClr val="00B8F5"/>
      </a:hlink>
      <a:folHlink>
        <a:srgbClr val="098E7E"/>
      </a:folHlink>
    </a:clrScheme>
    <a:fontScheme name="Custom 49">
      <a:majorFont>
        <a:latin typeface="KPMG Bold"/>
        <a:ea typeface=""/>
        <a:cs typeface=""/>
      </a:majorFont>
      <a:minorFont>
        <a:latin typeface="Arial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solidFill>
            <a:schemeClr val="accent1"/>
          </a:solidFill>
        </a:ln>
      </a:spPr>
      <a:bodyPr lIns="54610" tIns="54610" rIns="54610" bIns="54610" rtlCol="0" anchor="ctr"/>
      <a:lstStyle>
        <a:defPPr algn="l">
          <a:defRPr sz="1500" dirty="0" err="1" smtClean="0">
            <a:solidFill>
              <a:schemeClr val="bg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accent3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/>
      <a:bodyPr vert="horz" wrap="square" lIns="0" tIns="0" rIns="0" bIns="0" rtlCol="0" anchor="t" anchorCtr="0">
        <a:noAutofit/>
      </a:bodyPr>
      <a:lstStyle>
        <a:defPPr algn="l">
          <a:spcAft>
            <a:spcPts val="600"/>
          </a:spcAft>
          <a:defRPr sz="1500" b="1" dirty="0" smtClean="0">
            <a:solidFill>
              <a:schemeClr val="tx2"/>
            </a:solidFill>
          </a:defRPr>
        </a:defPPr>
      </a:lstStyle>
    </a:txDef>
  </a:objectDefaults>
  <a:extraClrSchemeLst/>
  <a:custClrLst>
    <a:custClr name="KPMG Blue">
      <a:srgbClr val="00338D"/>
    </a:custClr>
    <a:custClr name="Medium Blue">
      <a:srgbClr val="005EB8"/>
    </a:custClr>
    <a:custClr name="Light Blue">
      <a:srgbClr val="0091DA"/>
    </a:custClr>
    <a:custClr name="Violet">
      <a:srgbClr val="483698"/>
    </a:custClr>
    <a:custClr name="Purple">
      <a:srgbClr val="470A68"/>
    </a:custClr>
    <a:custClr name="Light Purple">
      <a:srgbClr val="6D2077"/>
    </a:custClr>
    <a:custClr name="Green">
      <a:srgbClr val="00A3A1"/>
    </a:custClr>
    <a:custClr name="Dark Green">
      <a:srgbClr val="009A44"/>
    </a:custClr>
    <a:custClr name="Light Green">
      <a:srgbClr val="43B02A"/>
    </a:custClr>
    <a:custClr name="Yellow">
      <a:srgbClr val="EAAA00"/>
    </a:custClr>
    <a:custClr name="Orange">
      <a:srgbClr val="F68D2E"/>
    </a:custClr>
    <a:custClr name="Red ">
      <a:srgbClr val="BC204B"/>
    </a:custClr>
    <a:custClr name="Pink">
      <a:srgbClr val="C6007E"/>
    </a:custClr>
    <a:custClr name="Dark Brown">
      <a:srgbClr val="753F19"/>
    </a:custClr>
    <a:custClr name="Light Brown">
      <a:srgbClr val="9B642E"/>
    </a:custClr>
    <a:custClr name="Olive">
      <a:srgbClr val="9D9375"/>
    </a:custClr>
    <a:custClr name="Beige">
      <a:srgbClr val="E3BC9F"/>
    </a:custClr>
    <a:custClr name="Light Pink">
      <a:srgbClr val="E36877"/>
    </a:custClr>
  </a:custClrLst>
  <a:extLst>
    <a:ext uri="{05A4C25C-085E-4340-85A3-A5531E510DB2}">
      <thm15:themeFamily xmlns:thm15="http://schemas.microsoft.com/office/thememl/2012/main" name="Presentation2" id="{6F9D073B-8B7E-4CCD-B454-11736666544F}" vid="{CB0E54E2-5236-4DAF-8398-713F6E87C91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2EA7A37DE3CA9145A2DA5F2E1E9B11FC" ma:contentTypeVersion="1" ma:contentTypeDescription="Create a new document." ma:contentTypeScope="" ma:versionID="a523c5b576b341eeca3c256af8cf188a">
  <xsd:schema xmlns:xsd="http://www.w3.org/2001/XMLSchema" xmlns:xs="http://www.w3.org/2001/XMLSchema" xmlns:p="http://schemas.microsoft.com/office/2006/metadata/properties" xmlns:ns2="178b3873-3fc4-45e0-9b83-e942c2307ee9" targetNamespace="http://schemas.microsoft.com/office/2006/metadata/properties" ma:root="true" ma:fieldsID="ecfaa939910e837cdea3f1aa9f3c012f" ns2:_="">
    <xsd:import namespace="178b3873-3fc4-45e0-9b83-e942c2307ee9"/>
    <xsd:element name="properties">
      <xsd:complexType>
        <xsd:sequence>
          <xsd:element name="documentManagement">
            <xsd:complexType>
              <xsd:all>
                <xsd:element ref="ns2:SharedWithUser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78b3873-3fc4-45e0-9b83-e942c2307ee9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4C81258E-AD28-48EA-B170-AE874B34A32E}">
  <ds:schemaRefs>
    <ds:schemaRef ds:uri="http://schemas.microsoft.com/office/2006/metadata/properties"/>
    <ds:schemaRef ds:uri="http://schemas.microsoft.com/office/infopath/2007/PartnerControls"/>
    <ds:schemaRef ds:uri="e57f5871-e628-4d32-a7f1-3e3622b9e94c"/>
    <ds:schemaRef ds:uri="{siteid}"/>
    <ds:schemaRef ds:uri="4ca9bab2-2aca-4fd9-9657-56a4c58137fc"/>
  </ds:schemaRefs>
</ds:datastoreItem>
</file>

<file path=customXml/itemProps2.xml><?xml version="1.0" encoding="utf-8"?>
<ds:datastoreItem xmlns:ds="http://schemas.openxmlformats.org/officeDocument/2006/customXml" ds:itemID="{DAF5E9DF-18CB-466F-B88D-777C8037B64A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874FA35F-563B-436A-8555-C0B5F74AFB3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178b3873-3fc4-45e0-9b83-e942c2307ee9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1130</TotalTime>
  <Words>908</Words>
  <Application>Microsoft Office PowerPoint</Application>
  <PresentationFormat>宽屏</PresentationFormat>
  <Paragraphs>107</Paragraphs>
  <Slides>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9" baseType="lpstr">
      <vt:lpstr>KPMG Bold</vt:lpstr>
      <vt:lpstr>Aptos</vt:lpstr>
      <vt:lpstr>Arial</vt:lpstr>
      <vt:lpstr>KPMG Widescreen [16:9] Feb 2022</vt:lpstr>
      <vt:lpstr>LuminFlow AI-Driven Client Audit Visibility &amp; Sampling Transparency Global Audit Hackathon 2026 — Challenge 2 | June 2026   China Team 14</vt:lpstr>
      <vt:lpstr>Project Background &amp; Challenge Response</vt:lpstr>
      <vt:lpstr>Visualization Framework &amp; AI Pipelines</vt:lpstr>
      <vt:lpstr>Key Capabilities &amp; Design Rationale</vt:lpstr>
      <vt:lpstr>Business Value, Technology &amp; Prototype Scope</vt:lpstr>
    </vt:vector>
  </TitlesOfParts>
  <Company>KPMG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Feng, Vennice (KDC/AQPP)</dc:creator>
  <cp:lastModifiedBy>Tim Lai</cp:lastModifiedBy>
  <cp:revision>46</cp:revision>
  <dcterms:created xsi:type="dcterms:W3CDTF">2026-05-08T08:52:44Z</dcterms:created>
  <dcterms:modified xsi:type="dcterms:W3CDTF">2026-06-17T14:43:34Z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0x0101002EA7A37DE3CA9145A2DA5F2E1E9B11FC</vt:lpwstr>
  </property>
</Properties>
</file>